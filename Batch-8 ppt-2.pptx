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23"/>
  </p:notesMasterIdLst>
  <p:handoutMasterIdLst>
    <p:handoutMasterId r:id="rId24"/>
  </p:handoutMasterIdLst>
  <p:sldIdLst>
    <p:sldId id="256" r:id="rId2"/>
    <p:sldId id="257" r:id="rId3"/>
    <p:sldId id="359" r:id="rId4"/>
    <p:sldId id="333" r:id="rId5"/>
    <p:sldId id="327" r:id="rId6"/>
    <p:sldId id="365" r:id="rId7"/>
    <p:sldId id="263" r:id="rId8"/>
    <p:sldId id="264" r:id="rId9"/>
    <p:sldId id="353" r:id="rId10"/>
    <p:sldId id="361" r:id="rId11"/>
    <p:sldId id="335" r:id="rId12"/>
    <p:sldId id="339" r:id="rId13"/>
    <p:sldId id="338" r:id="rId14"/>
    <p:sldId id="366" r:id="rId15"/>
    <p:sldId id="330" r:id="rId16"/>
    <p:sldId id="367" r:id="rId17"/>
    <p:sldId id="331" r:id="rId18"/>
    <p:sldId id="362" r:id="rId19"/>
    <p:sldId id="363" r:id="rId20"/>
    <p:sldId id="324" r:id="rId21"/>
    <p:sldId id="325" r:id="rId2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Palatino Linotype" pitchFamily="18" charset="0"/>
        <a:ea typeface="+mn-ea"/>
        <a:cs typeface="+mn-cs"/>
      </a:defRPr>
    </a:lvl1pPr>
    <a:lvl2pPr marL="457200" algn="l" rtl="0" eaLnBrk="0" fontAlgn="base" hangingPunct="0">
      <a:spcBef>
        <a:spcPct val="0"/>
      </a:spcBef>
      <a:spcAft>
        <a:spcPct val="0"/>
      </a:spcAft>
      <a:defRPr kern="1200">
        <a:solidFill>
          <a:schemeClr val="tx1"/>
        </a:solidFill>
        <a:latin typeface="Palatino Linotype" pitchFamily="18" charset="0"/>
        <a:ea typeface="+mn-ea"/>
        <a:cs typeface="+mn-cs"/>
      </a:defRPr>
    </a:lvl2pPr>
    <a:lvl3pPr marL="914400" algn="l" rtl="0" eaLnBrk="0" fontAlgn="base" hangingPunct="0">
      <a:spcBef>
        <a:spcPct val="0"/>
      </a:spcBef>
      <a:spcAft>
        <a:spcPct val="0"/>
      </a:spcAft>
      <a:defRPr kern="1200">
        <a:solidFill>
          <a:schemeClr val="tx1"/>
        </a:solidFill>
        <a:latin typeface="Palatino Linotype" pitchFamily="18" charset="0"/>
        <a:ea typeface="+mn-ea"/>
        <a:cs typeface="+mn-cs"/>
      </a:defRPr>
    </a:lvl3pPr>
    <a:lvl4pPr marL="1371600" algn="l" rtl="0" eaLnBrk="0" fontAlgn="base" hangingPunct="0">
      <a:spcBef>
        <a:spcPct val="0"/>
      </a:spcBef>
      <a:spcAft>
        <a:spcPct val="0"/>
      </a:spcAft>
      <a:defRPr kern="1200">
        <a:solidFill>
          <a:schemeClr val="tx1"/>
        </a:solidFill>
        <a:latin typeface="Palatino Linotype" pitchFamily="18" charset="0"/>
        <a:ea typeface="+mn-ea"/>
        <a:cs typeface="+mn-cs"/>
      </a:defRPr>
    </a:lvl4pPr>
    <a:lvl5pPr marL="1828800" algn="l" rtl="0" eaLnBrk="0" fontAlgn="base" hangingPunct="0">
      <a:spcBef>
        <a:spcPct val="0"/>
      </a:spcBef>
      <a:spcAft>
        <a:spcPct val="0"/>
      </a:spcAft>
      <a:defRPr kern="1200">
        <a:solidFill>
          <a:schemeClr val="tx1"/>
        </a:solidFill>
        <a:latin typeface="Palatino Linotype" pitchFamily="18" charset="0"/>
        <a:ea typeface="+mn-ea"/>
        <a:cs typeface="+mn-cs"/>
      </a:defRPr>
    </a:lvl5pPr>
    <a:lvl6pPr marL="2286000" algn="l" defTabSz="914400" rtl="0" eaLnBrk="1" latinLnBrk="0" hangingPunct="1">
      <a:defRPr kern="1200">
        <a:solidFill>
          <a:schemeClr val="tx1"/>
        </a:solidFill>
        <a:latin typeface="Palatino Linotype" pitchFamily="18" charset="0"/>
        <a:ea typeface="+mn-ea"/>
        <a:cs typeface="+mn-cs"/>
      </a:defRPr>
    </a:lvl6pPr>
    <a:lvl7pPr marL="2743200" algn="l" defTabSz="914400" rtl="0" eaLnBrk="1" latinLnBrk="0" hangingPunct="1">
      <a:defRPr kern="1200">
        <a:solidFill>
          <a:schemeClr val="tx1"/>
        </a:solidFill>
        <a:latin typeface="Palatino Linotype" pitchFamily="18" charset="0"/>
        <a:ea typeface="+mn-ea"/>
        <a:cs typeface="+mn-cs"/>
      </a:defRPr>
    </a:lvl7pPr>
    <a:lvl8pPr marL="3200400" algn="l" defTabSz="914400" rtl="0" eaLnBrk="1" latinLnBrk="0" hangingPunct="1">
      <a:defRPr kern="1200">
        <a:solidFill>
          <a:schemeClr val="tx1"/>
        </a:solidFill>
        <a:latin typeface="Palatino Linotype" pitchFamily="18" charset="0"/>
        <a:ea typeface="+mn-ea"/>
        <a:cs typeface="+mn-cs"/>
      </a:defRPr>
    </a:lvl8pPr>
    <a:lvl9pPr marL="3657600" algn="l" defTabSz="914400" rtl="0" eaLnBrk="1" latinLnBrk="0" hangingPunct="1">
      <a:defRPr kern="1200">
        <a:solidFill>
          <a:schemeClr val="tx1"/>
        </a:solidFill>
        <a:latin typeface="Palatino Linotype"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clrMru>
    <a:srgbClr val="000066"/>
    <a:srgbClr val="500000"/>
    <a:srgbClr val="8D4B39"/>
    <a:srgbClr val="3A12E4"/>
    <a:srgbClr val="AD137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985" autoAdjust="0"/>
    <p:restoredTop sz="94718" autoAdjust="0"/>
  </p:normalViewPr>
  <p:slideViewPr>
    <p:cSldViewPr snapToGrid="0">
      <p:cViewPr varScale="1">
        <p:scale>
          <a:sx n="73" d="100"/>
          <a:sy n="73" d="100"/>
        </p:scale>
        <p:origin x="-540" y="-102"/>
      </p:cViewPr>
      <p:guideLst>
        <p:guide orient="horz" pos="2160"/>
        <p:guide pos="3840"/>
      </p:guideLst>
    </p:cSldViewPr>
  </p:slideViewPr>
  <p:notesTextViewPr>
    <p:cViewPr>
      <p:scale>
        <a:sx n="3" d="2"/>
        <a:sy n="3" d="2"/>
      </p:scale>
      <p:origin x="0" y="0"/>
    </p:cViewPr>
  </p:notesTextViewPr>
  <p:notesViewPr>
    <p:cSldViewPr snapToGrid="0">
      <p:cViewPr varScale="1">
        <p:scale>
          <a:sx n="76" d="100"/>
          <a:sy n="76" d="100"/>
        </p:scale>
        <p:origin x="2538" y="96"/>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entury Gothic" pitchFamily="34" charset="0"/>
              </a:defRPr>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entury Gothic" pitchFamily="34" charset="0"/>
              </a:defRPr>
            </a:lvl1pPr>
          </a:lstStyle>
          <a:p>
            <a:fld id="{1CF5C478-1D35-4599-A462-98EA4DE8CDF5}" type="datetimeFigureOut">
              <a:rPr lang="en-US"/>
              <a:pPr/>
              <a:t>3/5/2026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entury Gothic" pitchFamily="34" charset="0"/>
              </a:defRPr>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entury Gothic" pitchFamily="34" charset="0"/>
              </a:defRPr>
            </a:lvl1pPr>
          </a:lstStyle>
          <a:p>
            <a:fld id="{B98989E6-E0EC-467F-8FE5-1AE9DD139CB3}"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entury Gothic"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entury Gothic" pitchFamily="34" charset="0"/>
              </a:defRPr>
            </a:lvl1pPr>
          </a:lstStyle>
          <a:p>
            <a:fld id="{9E080043-9C49-4A10-A871-0E5905A9821C}" type="datetimeFigureOut">
              <a:rPr lang="en-US"/>
              <a:pPr/>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entury Gothic"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entury Gothic" pitchFamily="34" charset="0"/>
              </a:defRPr>
            </a:lvl1pPr>
          </a:lstStyle>
          <a:p>
            <a:fld id="{70354A91-9E5C-4E98-BC7C-EDFC9274FB4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10243"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10244" name="Slide Number Placeholder 3"/>
          <p:cNvSpPr>
            <a:spLocks noGrp="1" noChangeArrowheads="1"/>
          </p:cNvSpPr>
          <p:nvPr>
            <p:ph type="sldNum" sz="quarter" idx="5"/>
          </p:nvPr>
        </p:nvSpPr>
        <p:spPr bwMode="auto">
          <a:noFill/>
          <a:ln>
            <a:miter lim="800000"/>
            <a:headEnd/>
            <a:tailEnd/>
          </a:ln>
        </p:spPr>
        <p:txBody>
          <a:bodyPr/>
          <a:lstStyle/>
          <a:p>
            <a:fld id="{4CD861AA-88D5-4D1F-9AF5-D261DA179037}" type="slidenum">
              <a:rPr lang="en-IN" altLang="en-US"/>
              <a:pPr/>
              <a:t>1</a:t>
            </a:fld>
            <a:endParaRPr lang="en-I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12291"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12292" name="Slide Number Placeholder 3"/>
          <p:cNvSpPr>
            <a:spLocks noGrp="1" noChangeArrowheads="1"/>
          </p:cNvSpPr>
          <p:nvPr>
            <p:ph type="sldNum" sz="quarter" idx="5"/>
          </p:nvPr>
        </p:nvSpPr>
        <p:spPr bwMode="auto">
          <a:noFill/>
          <a:ln>
            <a:miter lim="800000"/>
            <a:headEnd/>
            <a:tailEnd/>
          </a:ln>
        </p:spPr>
        <p:txBody>
          <a:bodyPr/>
          <a:lstStyle/>
          <a:p>
            <a:fld id="{0E99093B-A845-4A6C-A714-A9DC08679A7E}" type="slidenum">
              <a:rPr lang="en-US" altLang="en-US"/>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15363"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15364" name="Slide Number Placeholder 3"/>
          <p:cNvSpPr>
            <a:spLocks noGrp="1" noChangeArrowheads="1"/>
          </p:cNvSpPr>
          <p:nvPr>
            <p:ph type="sldNum" sz="quarter" idx="5"/>
          </p:nvPr>
        </p:nvSpPr>
        <p:spPr bwMode="auto">
          <a:noFill/>
          <a:ln>
            <a:miter lim="800000"/>
            <a:headEnd/>
            <a:tailEnd/>
          </a:ln>
        </p:spPr>
        <p:txBody>
          <a:bodyPr/>
          <a:lstStyle/>
          <a:p>
            <a:fld id="{755DA04E-15CE-4257-9CFE-E56FDC905EC2}" type="slidenum">
              <a:rPr lang="en-US" altLang="en-US"/>
              <a:pPr/>
              <a:t>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ChangeArrowheads="1" noTextEdit="1"/>
          </p:cNvSpPr>
          <p:nvPr>
            <p:ph type="sldImg"/>
          </p:nvPr>
        </p:nvSpPr>
        <p:spPr bwMode="auto">
          <a:noFill/>
          <a:ln>
            <a:solidFill>
              <a:srgbClr val="000000"/>
            </a:solidFill>
            <a:miter lim="800000"/>
            <a:headEnd/>
            <a:tailEnd/>
          </a:ln>
        </p:spPr>
      </p:sp>
      <p:sp>
        <p:nvSpPr>
          <p:cNvPr id="19459" name="Notes Placeholder 2"/>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19460" name="Slide Number Placeholder 3"/>
          <p:cNvSpPr>
            <a:spLocks noGrp="1" noChangeArrowheads="1"/>
          </p:cNvSpPr>
          <p:nvPr>
            <p:ph type="sldNum" sz="quarter" idx="5"/>
          </p:nvPr>
        </p:nvSpPr>
        <p:spPr bwMode="auto">
          <a:noFill/>
          <a:ln>
            <a:miter lim="800000"/>
            <a:headEnd/>
            <a:tailEnd/>
          </a:ln>
        </p:spPr>
        <p:txBody>
          <a:bodyPr/>
          <a:lstStyle/>
          <a:p>
            <a:fld id="{5D84B989-33A6-493D-B68F-070653EFFF7D}" type="slidenum">
              <a:rPr lang="en-US" altLang="en-US"/>
              <a:pPr/>
              <a:t>7</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endParaRPr lang="en-US">
              <a:solidFill>
                <a:srgbClr val="FFFFFF"/>
              </a:solidFill>
            </a:endParaRPr>
          </a:p>
        </p:txBody>
      </p:sp>
      <p:sp useBgFill="1">
        <p:nvSpPr>
          <p:cNvPr id="5" name="Rounded Rectangle 12"/>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6" name="Rectangle 5"/>
          <p:cNvSpPr/>
          <p:nvPr/>
        </p:nvSpPr>
        <p:spPr bwMode="ltGray">
          <a:xfrm>
            <a:off x="84138" y="1449388"/>
            <a:ext cx="12028487" cy="1527175"/>
          </a:xfrm>
          <a:prstGeom prst="rect">
            <a:avLst/>
          </a:prstGeom>
          <a:solidFill>
            <a:schemeClr val="bg2">
              <a:lumMod val="5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7" name="Rectangle 6"/>
          <p:cNvSpPr/>
          <p:nvPr/>
        </p:nvSpPr>
        <p:spPr>
          <a:xfrm>
            <a:off x="84138" y="1397000"/>
            <a:ext cx="12028487" cy="120650"/>
          </a:xfrm>
          <a:prstGeom prst="rect">
            <a:avLst/>
          </a:prstGeom>
          <a:solidFill>
            <a:schemeClr val="bg2">
              <a:lumMod val="75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10" name="Rectangle 9"/>
          <p:cNvSpPr/>
          <p:nvPr/>
        </p:nvSpPr>
        <p:spPr>
          <a:xfrm>
            <a:off x="84138" y="2976563"/>
            <a:ext cx="12028487" cy="111125"/>
          </a:xfrm>
          <a:prstGeom prst="rect">
            <a:avLst/>
          </a:prstGeom>
          <a:solidFill>
            <a:schemeClr val="bg2"/>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chemeClr val="bg1"/>
                </a:solidFill>
              </a:defRPr>
            </a:lvl1pPr>
          </a:lstStyle>
          <a:p>
            <a:r>
              <a:rPr lang="en-US"/>
              <a:t>Click to edit Master title style</a:t>
            </a:r>
            <a:endParaRPr lang="en-US" dirty="0"/>
          </a:p>
        </p:txBody>
      </p:sp>
      <p:sp>
        <p:nvSpPr>
          <p:cNvPr id="11" name="Date Placeholder 27"/>
          <p:cNvSpPr>
            <a:spLocks noGrp="1"/>
          </p:cNvSpPr>
          <p:nvPr>
            <p:ph type="dt" sz="half" idx="10"/>
          </p:nvPr>
        </p:nvSpPr>
        <p:spPr/>
        <p:txBody>
          <a:bodyPr/>
          <a:lstStyle>
            <a:lvl1pPr>
              <a:defRPr/>
            </a:lvl1pPr>
          </a:lstStyle>
          <a:p>
            <a:fld id="{28C41AA2-8142-411F-B3BE-A64D305160B3}" type="datetime2">
              <a:rPr lang="en-US"/>
              <a:pPr/>
              <a:t>Thursday, March 5, 2026</a:t>
            </a:fld>
            <a:endParaRPr lang="en-US"/>
          </a:p>
        </p:txBody>
      </p:sp>
      <p:sp>
        <p:nvSpPr>
          <p:cNvPr id="12" name="Footer Placeholder 16"/>
          <p:cNvSpPr>
            <a:spLocks noGrp="1"/>
          </p:cNvSpPr>
          <p:nvPr>
            <p:ph type="ftr" sz="quarter" idx="11"/>
          </p:nvPr>
        </p:nvSpPr>
        <p:spPr/>
        <p:txBody>
          <a:bodyPr/>
          <a:lstStyle>
            <a:lvl1pPr>
              <a:defRPr/>
            </a:lvl1pPr>
          </a:lstStyle>
          <a:p>
            <a:pPr>
              <a:defRPr/>
            </a:pPr>
            <a:r>
              <a:rPr lang="en-US"/>
              <a:t>Project review-1</a:t>
            </a:r>
          </a:p>
        </p:txBody>
      </p:sp>
      <p:sp>
        <p:nvSpPr>
          <p:cNvPr id="13" name="Slide Number Placeholder 28"/>
          <p:cNvSpPr>
            <a:spLocks noGrp="1"/>
          </p:cNvSpPr>
          <p:nvPr>
            <p:ph type="sldNum" sz="quarter" idx="12"/>
          </p:nvPr>
        </p:nvSpPr>
        <p:spPr/>
        <p:txBody>
          <a:bodyPr/>
          <a:lstStyle>
            <a:lvl1pPr>
              <a:defRPr>
                <a:solidFill>
                  <a:srgbClr val="FFFFFF"/>
                </a:solidFill>
              </a:defRPr>
            </a:lvl1pPr>
          </a:lstStyle>
          <a:p>
            <a:fld id="{C53D4797-7719-4C61-865B-4938707D6FE5}" type="slidenum">
              <a:rPr lang="en-US" altLang="en-US"/>
              <a:pPr/>
              <a:t>‹#›</a:t>
            </a:fld>
            <a:endParaRPr lang="en-US" altLang="en-US"/>
          </a:p>
        </p:txBody>
      </p:sp>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1219200" y="1447800"/>
            <a:ext cx="10363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13"/>
          <p:cNvSpPr>
            <a:spLocks noGrp="1"/>
          </p:cNvSpPr>
          <p:nvPr>
            <p:ph type="dt" sz="half" idx="10"/>
          </p:nvPr>
        </p:nvSpPr>
        <p:spPr/>
        <p:txBody>
          <a:bodyPr/>
          <a:lstStyle>
            <a:lvl1pPr>
              <a:defRPr/>
            </a:lvl1pPr>
          </a:lstStyle>
          <a:p>
            <a:fld id="{592FD809-E815-47F3-B00E-9ED7C6D5EE79}" type="datetime2">
              <a:rPr lang="en-US"/>
              <a:pPr/>
              <a:t>Thursday, March 5, 2026</a:t>
            </a:fld>
            <a:endParaRPr lang="en-US"/>
          </a:p>
        </p:txBody>
      </p:sp>
      <p:sp>
        <p:nvSpPr>
          <p:cNvPr id="5" name="Footer Placeholder 2"/>
          <p:cNvSpPr>
            <a:spLocks noGrp="1"/>
          </p:cNvSpPr>
          <p:nvPr>
            <p:ph type="ftr" sz="quarter" idx="11"/>
          </p:nvPr>
        </p:nvSpPr>
        <p:spPr/>
        <p:txBody>
          <a:bodyPr/>
          <a:lstStyle>
            <a:lvl1pPr>
              <a:defRPr/>
            </a:lvl1pPr>
          </a:lstStyle>
          <a:p>
            <a:pPr>
              <a:defRPr/>
            </a:pPr>
            <a:r>
              <a:rPr lang="en-US"/>
              <a:t>Project review-1</a:t>
            </a:r>
          </a:p>
        </p:txBody>
      </p:sp>
      <p:sp>
        <p:nvSpPr>
          <p:cNvPr id="6" name="Slide Number Placeholder 22"/>
          <p:cNvSpPr>
            <a:spLocks noGrp="1"/>
          </p:cNvSpPr>
          <p:nvPr>
            <p:ph type="sldNum" sz="quarter" idx="12"/>
          </p:nvPr>
        </p:nvSpPr>
        <p:spPr>
          <a:ln/>
        </p:spPr>
        <p:txBody>
          <a:bodyPr/>
          <a:lstStyle>
            <a:lvl1pPr>
              <a:defRPr/>
            </a:lvl1pPr>
          </a:lstStyle>
          <a:p>
            <a:fld id="{AB24CF10-D076-4E64-B53E-8C8CA0F3F421}" type="slidenum">
              <a:rPr lang="en-US" altLang="en-US"/>
              <a:pPr/>
              <a:t>‹#›</a:t>
            </a:fld>
            <a:endParaRPr lang="en-US" alt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endParaRPr lang="en-US">
              <a:solidFill>
                <a:srgbClr val="FFFFFF"/>
              </a:solidFill>
            </a:endParaRPr>
          </a:p>
        </p:txBody>
      </p:sp>
      <p:sp useBgFill="1">
        <p:nvSpPr>
          <p:cNvPr id="5"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6" name="Rectangle 5"/>
          <p:cNvSpPr/>
          <p:nvPr/>
        </p:nvSpPr>
        <p:spPr>
          <a:xfrm flipV="1">
            <a:off x="92075" y="2376488"/>
            <a:ext cx="12018963"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7" name="Rectangle 6"/>
          <p:cNvSpPr/>
          <p:nvPr/>
        </p:nvSpPr>
        <p:spPr>
          <a:xfrm>
            <a:off x="92075" y="2341563"/>
            <a:ext cx="12018963"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8" name="Rectangle 7"/>
          <p:cNvSpPr/>
          <p:nvPr/>
        </p:nvSpPr>
        <p:spPr>
          <a:xfrm>
            <a:off x="90488" y="2468563"/>
            <a:ext cx="12020550"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3" name="Text Placeholder 2"/>
          <p:cNvSpPr>
            <a:spLocks noGrp="1"/>
          </p:cNvSpPr>
          <p:nvPr>
            <p:ph type="body" idx="1"/>
          </p:nvPr>
        </p:nvSpPr>
        <p:spPr>
          <a:xfrm>
            <a:off x="963084" y="2547938"/>
            <a:ext cx="103632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963084" y="952501"/>
            <a:ext cx="10363200" cy="1362075"/>
          </a:xfrm>
        </p:spPr>
        <p:txBody>
          <a:bodyPr/>
          <a:lstStyle>
            <a:lvl1pPr algn="l">
              <a:buNone/>
              <a:defRPr sz="4000" b="0" cap="none"/>
            </a:lvl1pPr>
          </a:lstStyle>
          <a:p>
            <a:r>
              <a:rPr lang="en-US"/>
              <a:t>Click to edit Master title style</a:t>
            </a:r>
          </a:p>
        </p:txBody>
      </p:sp>
      <p:sp>
        <p:nvSpPr>
          <p:cNvPr id="9" name="Date Placeholder 3"/>
          <p:cNvSpPr>
            <a:spLocks noGrp="1"/>
          </p:cNvSpPr>
          <p:nvPr>
            <p:ph type="dt" sz="half" idx="10"/>
          </p:nvPr>
        </p:nvSpPr>
        <p:spPr/>
        <p:txBody>
          <a:bodyPr/>
          <a:lstStyle>
            <a:lvl1pPr>
              <a:defRPr/>
            </a:lvl1pPr>
          </a:lstStyle>
          <a:p>
            <a:fld id="{FCFF2129-8E4B-40A7-80D7-C1E86D0DB629}" type="datetime2">
              <a:rPr lang="en-US"/>
              <a:pPr/>
              <a:t>Thursday, March 5, 2026</a:t>
            </a:fld>
            <a:endParaRPr lang="en-US"/>
          </a:p>
        </p:txBody>
      </p:sp>
      <p:sp>
        <p:nvSpPr>
          <p:cNvPr id="10" name="Footer Placeholder 4"/>
          <p:cNvSpPr>
            <a:spLocks noGrp="1"/>
          </p:cNvSpPr>
          <p:nvPr>
            <p:ph type="ftr" sz="quarter" idx="11"/>
          </p:nvPr>
        </p:nvSpPr>
        <p:spPr>
          <a:xfrm>
            <a:off x="1066800" y="6172200"/>
            <a:ext cx="5334000" cy="457200"/>
          </a:xfrm>
        </p:spPr>
        <p:txBody>
          <a:bodyPr/>
          <a:lstStyle>
            <a:lvl1pPr>
              <a:defRPr/>
            </a:lvl1pPr>
          </a:lstStyle>
          <a:p>
            <a:pPr>
              <a:defRPr/>
            </a:pPr>
            <a:r>
              <a:rPr lang="en-US"/>
              <a:t>Project review-1</a:t>
            </a:r>
          </a:p>
        </p:txBody>
      </p:sp>
      <p:sp>
        <p:nvSpPr>
          <p:cNvPr id="11" name="Slide Number Placeholder 5"/>
          <p:cNvSpPr>
            <a:spLocks noGrp="1"/>
          </p:cNvSpPr>
          <p:nvPr>
            <p:ph type="sldNum" sz="quarter" idx="12"/>
          </p:nvPr>
        </p:nvSpPr>
        <p:spPr>
          <a:xfrm>
            <a:off x="195263" y="6208713"/>
            <a:ext cx="609600" cy="457200"/>
          </a:xfrm>
        </p:spPr>
        <p:txBody>
          <a:bodyPr/>
          <a:lstStyle>
            <a:lvl1pPr>
              <a:defRPr/>
            </a:lvl1pPr>
          </a:lstStyle>
          <a:p>
            <a:fld id="{570FC9AF-D1E7-4370-AFA5-7031B03DB783}" type="slidenum">
              <a:rPr lang="en-US" altLang="en-US"/>
              <a:pPr/>
              <a:t>‹#›</a:t>
            </a:fld>
            <a:endParaRPr lang="en-US" altLang="en-US"/>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2"/>
          </p:nvPr>
        </p:nvSpPr>
        <p:spPr>
          <a:xfrm>
            <a:off x="65786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
          </p:nvPr>
        </p:nvSpPr>
        <p:spPr>
          <a:xfrm>
            <a:off x="12192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13"/>
          <p:cNvSpPr>
            <a:spLocks noGrp="1"/>
          </p:cNvSpPr>
          <p:nvPr>
            <p:ph type="dt" sz="half" idx="10"/>
          </p:nvPr>
        </p:nvSpPr>
        <p:spPr/>
        <p:txBody>
          <a:bodyPr/>
          <a:lstStyle>
            <a:lvl1pPr>
              <a:defRPr/>
            </a:lvl1pPr>
          </a:lstStyle>
          <a:p>
            <a:fld id="{38795B4E-3782-437E-9EFA-28F34AB7FBFA}" type="datetime2">
              <a:rPr lang="en-US"/>
              <a:pPr/>
              <a:t>Thursday, March 5, 2026</a:t>
            </a:fld>
            <a:endParaRPr lang="en-US"/>
          </a:p>
        </p:txBody>
      </p:sp>
      <p:sp>
        <p:nvSpPr>
          <p:cNvPr id="6" name="Footer Placeholder 2"/>
          <p:cNvSpPr>
            <a:spLocks noGrp="1"/>
          </p:cNvSpPr>
          <p:nvPr>
            <p:ph type="ftr" sz="quarter" idx="11"/>
          </p:nvPr>
        </p:nvSpPr>
        <p:spPr/>
        <p:txBody>
          <a:bodyPr/>
          <a:lstStyle>
            <a:lvl1pPr>
              <a:defRPr/>
            </a:lvl1pPr>
          </a:lstStyle>
          <a:p>
            <a:pPr>
              <a:defRPr/>
            </a:pPr>
            <a:r>
              <a:rPr lang="en-US"/>
              <a:t>Project review-1</a:t>
            </a:r>
          </a:p>
        </p:txBody>
      </p:sp>
      <p:sp>
        <p:nvSpPr>
          <p:cNvPr id="7" name="Slide Number Placeholder 22"/>
          <p:cNvSpPr>
            <a:spLocks noGrp="1"/>
          </p:cNvSpPr>
          <p:nvPr>
            <p:ph type="sldNum" sz="quarter" idx="12"/>
          </p:nvPr>
        </p:nvSpPr>
        <p:spPr>
          <a:ln/>
        </p:spPr>
        <p:txBody>
          <a:bodyPr/>
          <a:lstStyle>
            <a:lvl1pPr>
              <a:defRPr/>
            </a:lvl1pPr>
          </a:lstStyle>
          <a:p>
            <a:fld id="{D9D6FC84-ADD4-4959-955D-03975BC656A9}" type="slidenum">
              <a:rPr lang="en-US" altLang="en-US"/>
              <a:pPr/>
              <a:t>‹#›</a:t>
            </a:fld>
            <a:endParaRPr lang="en-US" altLang="en-US"/>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 name="Title 1"/>
          <p:cNvSpPr>
            <a:spLocks noGrp="1"/>
          </p:cNvSpPr>
          <p:nvPr>
            <p:ph type="title"/>
          </p:nvPr>
        </p:nvSpPr>
        <p:spPr>
          <a:xfrm>
            <a:off x="1219200" y="273050"/>
            <a:ext cx="10363200" cy="1143000"/>
          </a:xfrm>
        </p:spPr>
        <p:txBody>
          <a:bodyPr/>
          <a:lstStyle>
            <a:lvl1pPr>
              <a:defRPr/>
            </a:lvl1pPr>
          </a:lstStyle>
          <a:p>
            <a:r>
              <a:rPr lang="en-US"/>
              <a:t>Click to edit Master title style</a:t>
            </a:r>
          </a:p>
        </p:txBody>
      </p:sp>
      <p:sp>
        <p:nvSpPr>
          <p:cNvPr id="7" name="Date Placeholder 13"/>
          <p:cNvSpPr>
            <a:spLocks noGrp="1"/>
          </p:cNvSpPr>
          <p:nvPr>
            <p:ph type="dt" sz="half" idx="10"/>
          </p:nvPr>
        </p:nvSpPr>
        <p:spPr/>
        <p:txBody>
          <a:bodyPr/>
          <a:lstStyle>
            <a:lvl1pPr>
              <a:defRPr/>
            </a:lvl1pPr>
          </a:lstStyle>
          <a:p>
            <a:fld id="{A57CF86B-D302-42B9-A233-394B1A883B68}" type="datetime2">
              <a:rPr lang="en-US"/>
              <a:pPr/>
              <a:t>Thursday, March 5, 2026</a:t>
            </a:fld>
            <a:endParaRPr lang="en-US"/>
          </a:p>
        </p:txBody>
      </p:sp>
      <p:sp>
        <p:nvSpPr>
          <p:cNvPr id="8" name="Footer Placeholder 2"/>
          <p:cNvSpPr>
            <a:spLocks noGrp="1"/>
          </p:cNvSpPr>
          <p:nvPr>
            <p:ph type="ftr" sz="quarter" idx="11"/>
          </p:nvPr>
        </p:nvSpPr>
        <p:spPr/>
        <p:txBody>
          <a:bodyPr/>
          <a:lstStyle>
            <a:lvl1pPr>
              <a:defRPr/>
            </a:lvl1pPr>
          </a:lstStyle>
          <a:p>
            <a:pPr>
              <a:defRPr/>
            </a:pPr>
            <a:r>
              <a:rPr lang="en-US"/>
              <a:t>Project review-1</a:t>
            </a:r>
          </a:p>
        </p:txBody>
      </p:sp>
      <p:sp>
        <p:nvSpPr>
          <p:cNvPr id="9" name="Slide Number Placeholder 22"/>
          <p:cNvSpPr>
            <a:spLocks noGrp="1"/>
          </p:cNvSpPr>
          <p:nvPr>
            <p:ph type="sldNum" sz="quarter" idx="12"/>
          </p:nvPr>
        </p:nvSpPr>
        <p:spPr>
          <a:ln/>
        </p:spPr>
        <p:txBody>
          <a:bodyPr/>
          <a:lstStyle>
            <a:lvl1pPr>
              <a:defRPr/>
            </a:lvl1pPr>
          </a:lstStyle>
          <a:p>
            <a:fld id="{B3FBBC9B-8271-4C24-9672-5A1BDD2B758E}" type="slidenum">
              <a:rPr lang="en-US" altLang="en-US"/>
              <a:pPr/>
              <a:t>‹#›</a:t>
            </a:fld>
            <a:endParaRPr lang="en-US" altLang="en-US"/>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fld id="{9BACEF1D-6FD3-4CFE-BD51-1EC7E7A65EC3}" type="datetime2">
              <a:rPr lang="en-US"/>
              <a:pPr/>
              <a:t>Thursday, March 5, 2026</a:t>
            </a:fld>
            <a:endParaRPr lang="en-US"/>
          </a:p>
        </p:txBody>
      </p:sp>
      <p:sp>
        <p:nvSpPr>
          <p:cNvPr id="4" name="Footer Placeholder 2"/>
          <p:cNvSpPr>
            <a:spLocks noGrp="1"/>
          </p:cNvSpPr>
          <p:nvPr>
            <p:ph type="ftr" sz="quarter" idx="11"/>
          </p:nvPr>
        </p:nvSpPr>
        <p:spPr/>
        <p:txBody>
          <a:bodyPr/>
          <a:lstStyle>
            <a:lvl1pPr>
              <a:defRPr/>
            </a:lvl1pPr>
          </a:lstStyle>
          <a:p>
            <a:pPr>
              <a:defRPr/>
            </a:pPr>
            <a:r>
              <a:rPr lang="en-US"/>
              <a:t>Project review-1</a:t>
            </a:r>
          </a:p>
        </p:txBody>
      </p:sp>
      <p:sp>
        <p:nvSpPr>
          <p:cNvPr id="5" name="Slide Number Placeholder 22"/>
          <p:cNvSpPr>
            <a:spLocks noGrp="1"/>
          </p:cNvSpPr>
          <p:nvPr>
            <p:ph type="sldNum" sz="quarter" idx="12"/>
          </p:nvPr>
        </p:nvSpPr>
        <p:spPr>
          <a:ln/>
        </p:spPr>
        <p:txBody>
          <a:bodyPr/>
          <a:lstStyle>
            <a:lvl1pPr>
              <a:defRPr/>
            </a:lvl1pPr>
          </a:lstStyle>
          <a:p>
            <a:fld id="{B39ACFC6-09C3-4A87-B40F-FEDB98F578BD}" type="slidenum">
              <a:rPr lang="en-US" altLang="en-US"/>
              <a:pPr/>
              <a:t>‹#›</a:t>
            </a:fld>
            <a:endParaRPr lang="en-US" altLang="en-US"/>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fld id="{05BC2F19-A803-4128-9C72-324FC72E8D93}" type="datetime2">
              <a:rPr lang="en-US"/>
              <a:pPr/>
              <a:t>Thursday, March 5, 2026</a:t>
            </a:fld>
            <a:endParaRPr lang="en-US"/>
          </a:p>
        </p:txBody>
      </p:sp>
      <p:sp>
        <p:nvSpPr>
          <p:cNvPr id="3" name="Footer Placeholder 2"/>
          <p:cNvSpPr>
            <a:spLocks noGrp="1"/>
          </p:cNvSpPr>
          <p:nvPr>
            <p:ph type="ftr" sz="quarter" idx="11"/>
          </p:nvPr>
        </p:nvSpPr>
        <p:spPr/>
        <p:txBody>
          <a:bodyPr/>
          <a:lstStyle>
            <a:lvl1pPr>
              <a:defRPr/>
            </a:lvl1pPr>
          </a:lstStyle>
          <a:p>
            <a:pPr>
              <a:defRPr/>
            </a:pPr>
            <a:r>
              <a:rPr lang="en-US"/>
              <a:t>Project review-1</a:t>
            </a:r>
          </a:p>
        </p:txBody>
      </p:sp>
      <p:sp>
        <p:nvSpPr>
          <p:cNvPr id="4" name="Slide Number Placeholder 22"/>
          <p:cNvSpPr>
            <a:spLocks noGrp="1"/>
          </p:cNvSpPr>
          <p:nvPr>
            <p:ph type="sldNum" sz="quarter" idx="12"/>
          </p:nvPr>
        </p:nvSpPr>
        <p:spPr>
          <a:ln/>
        </p:spPr>
        <p:txBody>
          <a:bodyPr/>
          <a:lstStyle>
            <a:lvl1pPr>
              <a:defRPr/>
            </a:lvl1pPr>
          </a:lstStyle>
          <a:p>
            <a:fld id="{92209E27-4F2A-4380-86CA-4A3FFAFFC915}" type="slidenum">
              <a:rPr lang="en-US" altLang="en-US"/>
              <a:pPr/>
              <a:t>‹#›</a:t>
            </a:fld>
            <a:endParaRPr lang="en-US" altLang="en-US"/>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useBgFill="1">
        <p:nvSpPr>
          <p:cNvPr id="6" name="Rounded Rectangle 8"/>
          <p:cNvSpPr/>
          <p:nvPr/>
        </p:nvSpPr>
        <p:spPr>
          <a:xfrm>
            <a:off x="85725"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11" name="Content Placeholder 10"/>
          <p:cNvSpPr>
            <a:spLocks noGrp="1"/>
          </p:cNvSpPr>
          <p:nvPr>
            <p:ph sz="quarter" idx="1"/>
          </p:nvPr>
        </p:nvSpPr>
        <p:spPr>
          <a:xfrm>
            <a:off x="3962400" y="1600200"/>
            <a:ext cx="7620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 name="Title 1"/>
          <p:cNvSpPr>
            <a:spLocks noGrp="1"/>
          </p:cNvSpPr>
          <p:nvPr>
            <p:ph type="title"/>
          </p:nvPr>
        </p:nvSpPr>
        <p:spPr>
          <a:xfrm>
            <a:off x="1219200" y="273050"/>
            <a:ext cx="10363200" cy="1143000"/>
          </a:xfrm>
        </p:spPr>
        <p:txBody>
          <a:bodyPr/>
          <a:lstStyle>
            <a:lvl1pPr algn="l">
              <a:buNone/>
              <a:defRPr sz="4000" b="0"/>
            </a:lvl1pPr>
          </a:lstStyle>
          <a:p>
            <a:r>
              <a:rPr lang="en-US"/>
              <a:t>Click to edit Master title style</a:t>
            </a:r>
          </a:p>
        </p:txBody>
      </p:sp>
      <p:sp>
        <p:nvSpPr>
          <p:cNvPr id="7" name="Date Placeholder 4"/>
          <p:cNvSpPr>
            <a:spLocks noGrp="1"/>
          </p:cNvSpPr>
          <p:nvPr>
            <p:ph type="dt" sz="half" idx="10"/>
          </p:nvPr>
        </p:nvSpPr>
        <p:spPr/>
        <p:txBody>
          <a:bodyPr/>
          <a:lstStyle>
            <a:lvl1pPr>
              <a:defRPr/>
            </a:lvl1pPr>
          </a:lstStyle>
          <a:p>
            <a:fld id="{B35EE5B9-5114-44AB-AED2-63CF87089672}" type="datetime2">
              <a:rPr lang="en-US"/>
              <a:pPr/>
              <a:t>Thursday, March 5, 2026</a:t>
            </a:fld>
            <a:endParaRPr lang="en-US"/>
          </a:p>
        </p:txBody>
      </p:sp>
      <p:sp>
        <p:nvSpPr>
          <p:cNvPr id="8" name="Footer Placeholder 5"/>
          <p:cNvSpPr>
            <a:spLocks noGrp="1"/>
          </p:cNvSpPr>
          <p:nvPr>
            <p:ph type="ftr" sz="quarter" idx="11"/>
          </p:nvPr>
        </p:nvSpPr>
        <p:spPr/>
        <p:txBody>
          <a:bodyPr/>
          <a:lstStyle>
            <a:lvl1pPr>
              <a:defRPr/>
            </a:lvl1pPr>
          </a:lstStyle>
          <a:p>
            <a:pPr>
              <a:defRPr/>
            </a:pPr>
            <a:r>
              <a:rPr lang="en-US"/>
              <a:t>Project review-1</a:t>
            </a:r>
          </a:p>
        </p:txBody>
      </p:sp>
      <p:sp>
        <p:nvSpPr>
          <p:cNvPr id="9" name="Slide Number Placeholder 6"/>
          <p:cNvSpPr>
            <a:spLocks noGrp="1"/>
          </p:cNvSpPr>
          <p:nvPr>
            <p:ph type="sldNum" sz="quarter" idx="12"/>
          </p:nvPr>
        </p:nvSpPr>
        <p:spPr/>
        <p:txBody>
          <a:bodyPr/>
          <a:lstStyle>
            <a:lvl1pPr>
              <a:defRPr/>
            </a:lvl1pPr>
          </a:lstStyle>
          <a:p>
            <a:fld id="{DD606982-BCC9-4D4F-BF4E-46540BD0CFA9}" type="slidenum">
              <a:rPr lang="en-US" altLang="en-US"/>
              <a:pPr/>
              <a:t>‹#›</a:t>
            </a:fld>
            <a:endParaRPr lang="en-US" altLang="en-US"/>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90488" y="4683125"/>
            <a:ext cx="12009437"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6" name="Rectangle 5"/>
          <p:cNvSpPr/>
          <p:nvPr/>
        </p:nvSpPr>
        <p:spPr>
          <a:xfrm>
            <a:off x="92075" y="4649788"/>
            <a:ext cx="12007850"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7" name="Rectangle 6"/>
          <p:cNvSpPr/>
          <p:nvPr/>
        </p:nvSpPr>
        <p:spPr>
          <a:xfrm>
            <a:off x="92075" y="4773613"/>
            <a:ext cx="12007850" cy="4921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lang="en-US"/>
              <a:t>Click to edit Master title style</a:t>
            </a:r>
          </a:p>
        </p:txBody>
      </p:sp>
      <p:sp>
        <p:nvSpPr>
          <p:cNvPr id="8" name="Date Placeholder 4"/>
          <p:cNvSpPr>
            <a:spLocks noGrp="1"/>
          </p:cNvSpPr>
          <p:nvPr>
            <p:ph type="dt" sz="half" idx="10"/>
          </p:nvPr>
        </p:nvSpPr>
        <p:spPr/>
        <p:txBody>
          <a:bodyPr/>
          <a:lstStyle>
            <a:lvl1pPr>
              <a:defRPr/>
            </a:lvl1pPr>
          </a:lstStyle>
          <a:p>
            <a:fld id="{1A873734-DE46-48A6-A2A8-6B4E17B12AC5}" type="datetime2">
              <a:rPr lang="en-US"/>
              <a:pPr/>
              <a:t>Thursday, March 5, 2026</a:t>
            </a:fld>
            <a:endParaRPr lang="en-US"/>
          </a:p>
        </p:txBody>
      </p:sp>
      <p:sp>
        <p:nvSpPr>
          <p:cNvPr id="9" name="Footer Placeholder 5"/>
          <p:cNvSpPr>
            <a:spLocks noGrp="1"/>
          </p:cNvSpPr>
          <p:nvPr>
            <p:ph type="ftr" sz="quarter" idx="11"/>
          </p:nvPr>
        </p:nvSpPr>
        <p:spPr>
          <a:xfrm>
            <a:off x="1219200" y="6172200"/>
            <a:ext cx="5181600" cy="457200"/>
          </a:xfrm>
        </p:spPr>
        <p:txBody>
          <a:bodyPr/>
          <a:lstStyle>
            <a:lvl1pPr>
              <a:defRPr/>
            </a:lvl1pPr>
          </a:lstStyle>
          <a:p>
            <a:pPr>
              <a:defRPr/>
            </a:pPr>
            <a:r>
              <a:rPr lang="en-US"/>
              <a:t>Project review-1</a:t>
            </a:r>
          </a:p>
        </p:txBody>
      </p:sp>
      <p:sp>
        <p:nvSpPr>
          <p:cNvPr id="10" name="Slide Number Placeholder 6"/>
          <p:cNvSpPr>
            <a:spLocks noGrp="1"/>
          </p:cNvSpPr>
          <p:nvPr>
            <p:ph type="sldNum" sz="quarter" idx="12"/>
          </p:nvPr>
        </p:nvSpPr>
        <p:spPr>
          <a:xfrm>
            <a:off x="195263" y="6208713"/>
            <a:ext cx="609600" cy="457200"/>
          </a:xfrm>
        </p:spPr>
        <p:txBody>
          <a:bodyPr/>
          <a:lstStyle>
            <a:lvl1pPr>
              <a:defRPr/>
            </a:lvl1pPr>
          </a:lstStyle>
          <a:p>
            <a:fld id="{4D65AE44-828D-47FA-8C7D-29152962AF3C}" type="slidenum">
              <a:rPr lang="en-US" altLang="en-US"/>
              <a:pPr/>
              <a:t>‹#›</a:t>
            </a:fld>
            <a:endParaRPr lang="en-US" altLang="en-US"/>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13"/>
          <p:cNvSpPr>
            <a:spLocks noGrp="1"/>
          </p:cNvSpPr>
          <p:nvPr>
            <p:ph type="dt" sz="half" idx="10"/>
          </p:nvPr>
        </p:nvSpPr>
        <p:spPr/>
        <p:txBody>
          <a:bodyPr/>
          <a:lstStyle>
            <a:lvl1pPr>
              <a:defRPr/>
            </a:lvl1pPr>
          </a:lstStyle>
          <a:p>
            <a:fld id="{5F8C86A3-D013-48BE-B5A8-8A84F204E339}" type="datetime2">
              <a:rPr lang="en-US"/>
              <a:pPr/>
              <a:t>Thursday, March 5, 2026</a:t>
            </a:fld>
            <a:endParaRPr lang="en-US"/>
          </a:p>
        </p:txBody>
      </p:sp>
      <p:sp>
        <p:nvSpPr>
          <p:cNvPr id="5" name="Footer Placeholder 2"/>
          <p:cNvSpPr>
            <a:spLocks noGrp="1"/>
          </p:cNvSpPr>
          <p:nvPr>
            <p:ph type="ftr" sz="quarter" idx="11"/>
          </p:nvPr>
        </p:nvSpPr>
        <p:spPr/>
        <p:txBody>
          <a:bodyPr/>
          <a:lstStyle>
            <a:lvl1pPr>
              <a:defRPr/>
            </a:lvl1pPr>
          </a:lstStyle>
          <a:p>
            <a:pPr>
              <a:defRPr/>
            </a:pPr>
            <a:r>
              <a:rPr lang="en-US"/>
              <a:t>Project review-1</a:t>
            </a:r>
          </a:p>
        </p:txBody>
      </p:sp>
      <p:sp>
        <p:nvSpPr>
          <p:cNvPr id="6" name="Slide Number Placeholder 22"/>
          <p:cNvSpPr>
            <a:spLocks noGrp="1"/>
          </p:cNvSpPr>
          <p:nvPr>
            <p:ph type="sldNum" sz="quarter" idx="12"/>
          </p:nvPr>
        </p:nvSpPr>
        <p:spPr>
          <a:ln/>
        </p:spPr>
        <p:txBody>
          <a:bodyPr/>
          <a:lstStyle>
            <a:lvl1pPr>
              <a:defRPr/>
            </a:lvl1pPr>
          </a:lstStyle>
          <a:p>
            <a:fld id="{F852A9FE-97C0-4AC4-AD11-DE0DF371FAFC}" type="slidenum">
              <a:rPr lang="en-US" altLang="en-US"/>
              <a:pPr/>
              <a:t>‹#›</a:t>
            </a:fld>
            <a:endParaRPr lang="en-US" altLang="en-US"/>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p>
        </p:txBody>
      </p:sp>
      <p:sp>
        <p:nvSpPr>
          <p:cNvPr id="4" name="Date Placeholder 13"/>
          <p:cNvSpPr>
            <a:spLocks noGrp="1"/>
          </p:cNvSpPr>
          <p:nvPr>
            <p:ph type="dt" sz="half" idx="10"/>
          </p:nvPr>
        </p:nvSpPr>
        <p:spPr/>
        <p:txBody>
          <a:bodyPr/>
          <a:lstStyle>
            <a:lvl1pPr>
              <a:defRPr/>
            </a:lvl1pPr>
          </a:lstStyle>
          <a:p>
            <a:fld id="{BC5DA854-A0F3-4092-9FCB-567F368AECE0}" type="datetime2">
              <a:rPr lang="en-US"/>
              <a:pPr/>
              <a:t>Thursday, March 5, 2026</a:t>
            </a:fld>
            <a:endParaRPr lang="en-US"/>
          </a:p>
        </p:txBody>
      </p:sp>
      <p:sp>
        <p:nvSpPr>
          <p:cNvPr id="5" name="Footer Placeholder 2"/>
          <p:cNvSpPr>
            <a:spLocks noGrp="1"/>
          </p:cNvSpPr>
          <p:nvPr>
            <p:ph type="ftr" sz="quarter" idx="11"/>
          </p:nvPr>
        </p:nvSpPr>
        <p:spPr/>
        <p:txBody>
          <a:bodyPr/>
          <a:lstStyle>
            <a:lvl1pPr>
              <a:defRPr/>
            </a:lvl1pPr>
          </a:lstStyle>
          <a:p>
            <a:pPr>
              <a:defRPr/>
            </a:pPr>
            <a:r>
              <a:rPr lang="en-US"/>
              <a:t>Project review-1</a:t>
            </a:r>
          </a:p>
        </p:txBody>
      </p:sp>
      <p:sp>
        <p:nvSpPr>
          <p:cNvPr id="6" name="Slide Number Placeholder 22"/>
          <p:cNvSpPr>
            <a:spLocks noGrp="1"/>
          </p:cNvSpPr>
          <p:nvPr>
            <p:ph type="sldNum" sz="quarter" idx="12"/>
          </p:nvPr>
        </p:nvSpPr>
        <p:spPr>
          <a:ln/>
        </p:spPr>
        <p:txBody>
          <a:bodyPr/>
          <a:lstStyle>
            <a:lvl1pPr>
              <a:defRPr/>
            </a:lvl1pPr>
          </a:lstStyle>
          <a:p>
            <a:fld id="{A943CF4A-1FFA-423F-97AE-DD99F221C804}" type="slidenum">
              <a:rPr lang="en-US" altLang="en-US"/>
              <a:pPr/>
              <a:t>‹#›</a:t>
            </a:fld>
            <a:endParaRPr lang="en-US" altLang="en-US"/>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useBgFill="1">
        <p:nvSpPr>
          <p:cNvPr id="11" name="Rounded Rectangle 10"/>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endParaRPr lang="en-US">
              <a:solidFill>
                <a:srgbClr val="FFFFFF"/>
              </a:solidFill>
            </a:endParaRPr>
          </a:p>
        </p:txBody>
      </p:sp>
      <p:sp>
        <p:nvSpPr>
          <p:cNvPr id="14" name="Date Placeholder 13"/>
          <p:cNvSpPr>
            <a:spLocks noGrp="1"/>
          </p:cNvSpPr>
          <p:nvPr>
            <p:ph type="dt" sz="half" idx="2"/>
          </p:nvPr>
        </p:nvSpPr>
        <p:spPr>
          <a:xfrm>
            <a:off x="8229600" y="6191250"/>
            <a:ext cx="3302000" cy="4762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a:solidFill>
                  <a:schemeClr val="tx2"/>
                </a:solidFill>
              </a:defRPr>
            </a:lvl1pPr>
          </a:lstStyle>
          <a:p>
            <a:fld id="{F57EDCA3-DDD5-4830-8E07-158B01BB3BEA}" type="datetime2">
              <a:rPr lang="en-US"/>
              <a:pPr/>
              <a:t>Thursday, March 5, 2026</a:t>
            </a:fld>
            <a:endParaRPr lang="en-US"/>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defRPr>
            </a:lvl1pPr>
          </a:lstStyle>
          <a:p>
            <a:pPr>
              <a:defRPr/>
            </a:pPr>
            <a:r>
              <a:rPr lang="en-US"/>
              <a:t>Project review-1</a:t>
            </a:r>
          </a:p>
        </p:txBody>
      </p:sp>
      <p:sp>
        <p:nvSpPr>
          <p:cNvPr id="23" name="Slide Number Placeholder 22"/>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prstTxWarp prst="textNoShape">
              <a:avLst/>
            </a:prstTxWarp>
            <a:noAutofit/>
          </a:bodyPr>
          <a:lstStyle>
            <a:lvl1pPr algn="ctr" eaLnBrk="1" hangingPunct="1">
              <a:defRPr sz="1400">
                <a:solidFill>
                  <a:schemeClr val="bg1"/>
                </a:solidFill>
                <a:latin typeface="Century Gothic" pitchFamily="34" charset="0"/>
              </a:defRPr>
            </a:lvl1pPr>
          </a:lstStyle>
          <a:p>
            <a:fld id="{93E6271E-82B2-4A05-950A-A8882C5EE966}" type="slidenum">
              <a:rPr lang="en-US" altLang="en-US"/>
              <a:pPr/>
              <a:t>‹#›</a:t>
            </a:fld>
            <a:endParaRPr lang="en-US" altLang="en-US"/>
          </a:p>
        </p:txBody>
      </p:sp>
      <p:sp>
        <p:nvSpPr>
          <p:cNvPr id="1030" name="Text Placeholder 12"/>
          <p:cNvSpPr>
            <a:spLocks noGrp="1" noChangeArrowheads="1"/>
          </p:cNvSpPr>
          <p:nvPr>
            <p:ph type="body" idx="1"/>
          </p:nvPr>
        </p:nvSpPr>
        <p:spPr bwMode="auto">
          <a:xfrm>
            <a:off x="1219200" y="1447800"/>
            <a:ext cx="103632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1" name="Title Placeholder 21"/>
          <p:cNvSpPr>
            <a:spLocks noGrp="1" noChangeArrowheads="1"/>
          </p:cNvSpPr>
          <p:nvPr>
            <p:ph type="title"/>
          </p:nvPr>
        </p:nvSpPr>
        <p:spPr bwMode="auto">
          <a:xfrm>
            <a:off x="1219200" y="274638"/>
            <a:ext cx="103632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en-US" altLang="en-US" smtClean="0"/>
              <a:t>Click to edit Master title style</a:t>
            </a:r>
          </a:p>
        </p:txBody>
      </p:sp>
    </p:spTree>
  </p:cSld>
  <p:clrMap bg1="lt1" tx1="dk1" bg2="lt2" tx2="dk2" accent1="accent1" accent2="accent2" accent3="accent3" accent4="accent4" accent5="accent5" accent6="accent6" hlink="hlink" folHlink="folHlink"/>
  <p:sldLayoutIdLst>
    <p:sldLayoutId id="2147484037" r:id="rId1"/>
    <p:sldLayoutId id="2147484030" r:id="rId2"/>
    <p:sldLayoutId id="2147484038" r:id="rId3"/>
    <p:sldLayoutId id="2147484031" r:id="rId4"/>
    <p:sldLayoutId id="2147484032" r:id="rId5"/>
    <p:sldLayoutId id="2147484033" r:id="rId6"/>
    <p:sldLayoutId id="2147484034" r:id="rId7"/>
    <p:sldLayoutId id="2147484039" r:id="rId8"/>
    <p:sldLayoutId id="2147484040" r:id="rId9"/>
    <p:sldLayoutId id="2147484035" r:id="rId10"/>
    <p:sldLayoutId id="2147484036" r:id="rId11"/>
  </p:sldLayoutIdLst>
  <p:transition spd="med">
    <p:fade/>
  </p:transition>
  <p:timing>
    <p:tnLst>
      <p:par>
        <p:cTn id="1" dur="indefinite" restart="never" nodeType="tmRoot"/>
      </p:par>
    </p:tnLst>
  </p:timing>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297FD5"/>
        </a:buClr>
        <a:buSzPct val="80000"/>
        <a:buFont typeface="Wingdings 2"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charset="0"/>
        <a:buChar char="•"/>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blynk.io/" TargetMode="External"/><Relationship Id="rId2" Type="http://schemas.openxmlformats.org/officeDocument/2006/relationships/hyperlink" Target="https://www.arduino.cc/"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thingspeak.com/"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ubtitle 2"/>
          <p:cNvSpPr>
            <a:spLocks noGrp="1" noChangeArrowheads="1"/>
          </p:cNvSpPr>
          <p:nvPr>
            <p:ph type="subTitle" idx="1"/>
          </p:nvPr>
        </p:nvSpPr>
        <p:spPr>
          <a:xfrm>
            <a:off x="173038" y="3429000"/>
            <a:ext cx="11857037" cy="3270250"/>
          </a:xfrm>
        </p:spPr>
        <p:txBody>
          <a:bodyPr/>
          <a:lstStyle/>
          <a:p>
            <a:pPr eaLnBrk="1" hangingPunct="1"/>
            <a:r>
              <a:rPr lang="en-US" altLang="en-US" sz="3600" b="1" dirty="0" smtClean="0">
                <a:solidFill>
                  <a:srgbClr val="7030A0"/>
                </a:solidFill>
                <a:latin typeface="Times New Roman" pitchFamily="18" charset="0"/>
                <a:ea typeface="Microsoft Sans Serif" pitchFamily="34" charset="0"/>
                <a:cs typeface="Times New Roman" pitchFamily="18" charset="0"/>
              </a:rPr>
              <a:t>Presented by :</a:t>
            </a:r>
          </a:p>
          <a:p>
            <a:pPr eaLnBrk="1" hangingPunct="1"/>
            <a:r>
              <a:rPr lang="en-US" altLang="en-US" sz="1400" b="1" dirty="0" smtClean="0">
                <a:solidFill>
                  <a:srgbClr val="7030A0"/>
                </a:solidFill>
                <a:latin typeface="Times New Roman" pitchFamily="18" charset="0"/>
                <a:ea typeface="Microsoft Sans Serif" pitchFamily="34" charset="0"/>
                <a:cs typeface="Times New Roman" pitchFamily="18" charset="0"/>
              </a:rPr>
              <a:t>24491A04M0 --</a:t>
            </a:r>
            <a:r>
              <a:rPr lang="en-US" altLang="en-US" sz="1400" b="1" dirty="0" err="1" smtClean="0">
                <a:solidFill>
                  <a:srgbClr val="7030A0"/>
                </a:solidFill>
                <a:latin typeface="Times New Roman" pitchFamily="18" charset="0"/>
                <a:ea typeface="Microsoft Sans Serif" pitchFamily="34" charset="0"/>
                <a:cs typeface="Times New Roman" pitchFamily="18" charset="0"/>
              </a:rPr>
              <a:t>P.Nandini</a:t>
            </a:r>
            <a:endParaRPr lang="en-US" altLang="en-US" sz="1400" b="1" dirty="0" smtClean="0">
              <a:solidFill>
                <a:srgbClr val="7030A0"/>
              </a:solidFill>
              <a:latin typeface="Times New Roman" pitchFamily="18" charset="0"/>
              <a:ea typeface="Microsoft Sans Serif" pitchFamily="34" charset="0"/>
              <a:cs typeface="Times New Roman" pitchFamily="18" charset="0"/>
            </a:endParaRPr>
          </a:p>
          <a:p>
            <a:pPr eaLnBrk="1" hangingPunct="1"/>
            <a:r>
              <a:rPr lang="en-US" altLang="en-US" sz="1400" b="1" dirty="0" smtClean="0">
                <a:solidFill>
                  <a:srgbClr val="7030A0"/>
                </a:solidFill>
                <a:latin typeface="Times New Roman" pitchFamily="18" charset="0"/>
                <a:ea typeface="Microsoft Sans Serif" pitchFamily="34" charset="0"/>
                <a:cs typeface="Times New Roman" pitchFamily="18" charset="0"/>
              </a:rPr>
              <a:t>24491A04N2 --</a:t>
            </a:r>
            <a:r>
              <a:rPr lang="en-US" altLang="en-US" sz="1400" b="1" dirty="0" err="1" smtClean="0">
                <a:solidFill>
                  <a:srgbClr val="7030A0"/>
                </a:solidFill>
                <a:latin typeface="Times New Roman" pitchFamily="18" charset="0"/>
                <a:ea typeface="Microsoft Sans Serif" pitchFamily="34" charset="0"/>
                <a:cs typeface="Times New Roman" pitchFamily="18" charset="0"/>
              </a:rPr>
              <a:t>Sk.Mujwin</a:t>
            </a:r>
            <a:endParaRPr lang="en-US" altLang="en-US" sz="1400" b="1" dirty="0" smtClean="0">
              <a:solidFill>
                <a:srgbClr val="7030A0"/>
              </a:solidFill>
              <a:latin typeface="Times New Roman" pitchFamily="18" charset="0"/>
              <a:ea typeface="Microsoft Sans Serif" pitchFamily="34" charset="0"/>
              <a:cs typeface="Times New Roman" pitchFamily="18" charset="0"/>
            </a:endParaRPr>
          </a:p>
          <a:p>
            <a:pPr eaLnBrk="1" hangingPunct="1"/>
            <a:r>
              <a:rPr lang="en-US" altLang="en-US" sz="1400" b="1" dirty="0" smtClean="0">
                <a:solidFill>
                  <a:srgbClr val="7030A0"/>
                </a:solidFill>
                <a:latin typeface="Times New Roman" pitchFamily="18" charset="0"/>
                <a:ea typeface="Microsoft Sans Serif" pitchFamily="34" charset="0"/>
                <a:cs typeface="Times New Roman" pitchFamily="18" charset="0"/>
              </a:rPr>
              <a:t>24491A04L6—K.parvathi</a:t>
            </a:r>
            <a:endParaRPr lang="en-US" altLang="en-US" sz="1400" b="1" dirty="0" smtClean="0">
              <a:solidFill>
                <a:srgbClr val="7030A0"/>
              </a:solidFill>
              <a:latin typeface="Times New Roman" pitchFamily="18" charset="0"/>
              <a:ea typeface="Microsoft Sans Serif" pitchFamily="34" charset="0"/>
              <a:cs typeface="Times New Roman" pitchFamily="18" charset="0"/>
            </a:endParaRPr>
          </a:p>
          <a:p>
            <a:pPr eaLnBrk="1" hangingPunct="1"/>
            <a:r>
              <a:rPr lang="en-US" altLang="en-US" sz="1400" b="1" dirty="0" smtClean="0">
                <a:solidFill>
                  <a:srgbClr val="7030A0"/>
                </a:solidFill>
                <a:latin typeface="Times New Roman" pitchFamily="18" charset="0"/>
                <a:ea typeface="Microsoft Sans Serif" pitchFamily="34" charset="0"/>
                <a:cs typeface="Times New Roman" pitchFamily="18" charset="0"/>
              </a:rPr>
              <a:t>24491A04L8—K.Anitha</a:t>
            </a:r>
            <a:endParaRPr lang="en-US" altLang="en-US" sz="1400" b="1" dirty="0" smtClean="0">
              <a:solidFill>
                <a:srgbClr val="7030A0"/>
              </a:solidFill>
              <a:latin typeface="Times New Roman" pitchFamily="18" charset="0"/>
              <a:ea typeface="Microsoft Sans Serif" pitchFamily="34" charset="0"/>
              <a:cs typeface="Times New Roman" pitchFamily="18" charset="0"/>
            </a:endParaRPr>
          </a:p>
          <a:p>
            <a:pPr eaLnBrk="1" hangingPunct="1"/>
            <a:r>
              <a:rPr lang="en-US" altLang="en-US" sz="1400" b="1" dirty="0" smtClean="0">
                <a:solidFill>
                  <a:srgbClr val="7030A0"/>
                </a:solidFill>
                <a:latin typeface="Times New Roman" pitchFamily="18" charset="0"/>
                <a:ea typeface="Microsoft Sans Serif" pitchFamily="34" charset="0"/>
                <a:cs typeface="Times New Roman" pitchFamily="18" charset="0"/>
              </a:rPr>
              <a:t>24491A04Q0—P.Yashwanth</a:t>
            </a:r>
            <a:endParaRPr lang="en-US" altLang="en-US" sz="1400" b="1" dirty="0" smtClean="0">
              <a:solidFill>
                <a:srgbClr val="7030A0"/>
              </a:solidFill>
              <a:latin typeface="Times New Roman" pitchFamily="18" charset="0"/>
              <a:ea typeface="Microsoft Sans Serif" pitchFamily="34" charset="0"/>
              <a:cs typeface="Times New Roman" pitchFamily="18" charset="0"/>
            </a:endParaRPr>
          </a:p>
          <a:p>
            <a:pPr eaLnBrk="1" hangingPunct="1"/>
            <a:r>
              <a:rPr lang="en-US" altLang="en-US" sz="1400" b="1" dirty="0" smtClean="0">
                <a:solidFill>
                  <a:srgbClr val="7030A0"/>
                </a:solidFill>
                <a:latin typeface="Times New Roman" pitchFamily="18" charset="0"/>
                <a:ea typeface="Microsoft Sans Serif" pitchFamily="34" charset="0"/>
                <a:cs typeface="Times New Roman" pitchFamily="18" charset="0"/>
              </a:rPr>
              <a:t>24491A04J5—N.Narasimha</a:t>
            </a:r>
            <a:endParaRPr lang="en-US" altLang="en-US" sz="1400" b="1" dirty="0" smtClean="0">
              <a:solidFill>
                <a:srgbClr val="7030A0"/>
              </a:solidFill>
              <a:latin typeface="Times New Roman" pitchFamily="18" charset="0"/>
              <a:cs typeface="Times New Roman" pitchFamily="18" charset="0"/>
            </a:endParaRPr>
          </a:p>
          <a:p>
            <a:pPr eaLnBrk="1" hangingPunct="1"/>
            <a:r>
              <a:rPr lang="en-US" altLang="en-US" sz="1400" b="1" i="1" dirty="0" smtClean="0">
                <a:solidFill>
                  <a:srgbClr val="2B5259"/>
                </a:solidFill>
                <a:latin typeface="Times New Roman" pitchFamily="18" charset="0"/>
                <a:cs typeface="Times New Roman" pitchFamily="18" charset="0"/>
              </a:rPr>
              <a:t>                                                                                                                                                                                 </a:t>
            </a:r>
            <a:r>
              <a:rPr lang="en-US" altLang="en-US" sz="1200" b="1" i="1" dirty="0" smtClean="0">
                <a:solidFill>
                  <a:srgbClr val="2B5259"/>
                </a:solidFill>
                <a:latin typeface="Microsoft Sans Serif" pitchFamily="34" charset="0"/>
                <a:cs typeface="Microsoft Sans Serif" pitchFamily="34" charset="0"/>
              </a:rPr>
              <a:t>                            </a:t>
            </a:r>
            <a:r>
              <a:rPr lang="en-US" altLang="en-US" sz="2000" b="1" i="1" dirty="0" smtClean="0">
                <a:solidFill>
                  <a:srgbClr val="00B050"/>
                </a:solidFill>
                <a:latin typeface="Times New Roman" pitchFamily="18" charset="0"/>
                <a:cs typeface="Microsoft Sans Serif" pitchFamily="34" charset="0"/>
              </a:rPr>
              <a:t>Under the Guidance of</a:t>
            </a:r>
          </a:p>
          <a:p>
            <a:pPr algn="r" eaLnBrk="1" hangingPunct="1"/>
            <a:r>
              <a:rPr lang="en-US" altLang="en-US" sz="1600" b="1" i="1" dirty="0" err="1" smtClean="0">
                <a:solidFill>
                  <a:srgbClr val="00B050"/>
                </a:solidFill>
                <a:latin typeface="Times New Roman" pitchFamily="18" charset="0"/>
                <a:cs typeface="Microsoft Sans Serif" pitchFamily="34" charset="0"/>
              </a:rPr>
              <a:t>K.Ramanjaneyulu</a:t>
            </a:r>
            <a:r>
              <a:rPr lang="en-US" altLang="en-US" sz="1600" b="1" i="1" dirty="0" smtClean="0">
                <a:solidFill>
                  <a:srgbClr val="00B050"/>
                </a:solidFill>
                <a:latin typeface="Times New Roman" pitchFamily="18" charset="0"/>
                <a:cs typeface="Microsoft Sans Serif" pitchFamily="34" charset="0"/>
              </a:rPr>
              <a:t>                                          </a:t>
            </a:r>
            <a:endParaRPr lang="en-US" altLang="en-US" sz="1600" b="1" i="1" dirty="0" smtClean="0">
              <a:solidFill>
                <a:srgbClr val="00B050"/>
              </a:solidFill>
              <a:latin typeface="Times New Roman" pitchFamily="18" charset="0"/>
              <a:cs typeface="Microsoft Sans Serif" pitchFamily="34" charset="0"/>
            </a:endParaRPr>
          </a:p>
          <a:p>
            <a:pPr algn="r" eaLnBrk="1" hangingPunct="1"/>
            <a:r>
              <a:rPr lang="en-US" altLang="en-US" sz="1600" b="1" dirty="0" smtClean="0">
                <a:latin typeface="Times New Roman" pitchFamily="18" charset="0"/>
                <a:cs typeface="Microsoft Sans Serif" pitchFamily="34" charset="0"/>
              </a:rPr>
              <a:t>Department of </a:t>
            </a:r>
            <a:r>
              <a:rPr lang="en-US" altLang="en-US" sz="1600" b="1" dirty="0" smtClean="0">
                <a:latin typeface="Times New Roman" pitchFamily="18" charset="0"/>
                <a:cs typeface="Microsoft Sans Serif" pitchFamily="34" charset="0"/>
              </a:rPr>
              <a:t>CSDE</a:t>
            </a:r>
            <a:endParaRPr lang="en-US" altLang="en-US" sz="1600" b="1" dirty="0" smtClean="0">
              <a:latin typeface="Times New Roman" pitchFamily="18" charset="0"/>
              <a:cs typeface="Microsoft Sans Serif" pitchFamily="34" charset="0"/>
            </a:endParaRPr>
          </a:p>
          <a:p>
            <a:pPr algn="r" eaLnBrk="1" hangingPunct="1"/>
            <a:endParaRPr lang="en-US" altLang="en-US" sz="3300" dirty="0" smtClean="0">
              <a:latin typeface="Microsoft Sans Serif" pitchFamily="34" charset="0"/>
              <a:cs typeface="Microsoft Sans Serif" pitchFamily="34" charset="0"/>
            </a:endParaRPr>
          </a:p>
          <a:p>
            <a:pPr eaLnBrk="1" hangingPunct="1">
              <a:lnSpc>
                <a:spcPct val="80000"/>
              </a:lnSpc>
            </a:pPr>
            <a:endParaRPr lang="en-US" altLang="en-US" sz="3300" dirty="0" smtClean="0"/>
          </a:p>
          <a:p>
            <a:pPr algn="r" eaLnBrk="1" hangingPunct="1"/>
            <a:endParaRPr lang="en-US" altLang="en-US" sz="2000" dirty="0" smtClean="0"/>
          </a:p>
        </p:txBody>
      </p:sp>
      <p:sp>
        <p:nvSpPr>
          <p:cNvPr id="9219" name="Title 1"/>
          <p:cNvSpPr>
            <a:spLocks noGrp="1" noChangeArrowheads="1"/>
          </p:cNvSpPr>
          <p:nvPr>
            <p:ph type="ctrTitle"/>
          </p:nvPr>
        </p:nvSpPr>
        <p:spPr>
          <a:xfrm>
            <a:off x="263525" y="1465263"/>
            <a:ext cx="11998325" cy="1555750"/>
          </a:xfrm>
        </p:spPr>
        <p:txBody>
          <a:bodyPr/>
          <a:lstStyle/>
          <a:p>
            <a:pPr eaLnBrk="1" hangingPunct="1"/>
            <a:r>
              <a:rPr lang="en-IN" altLang="en-US" b="1" smtClean="0">
                <a:latin typeface="Times New Roman" pitchFamily="18" charset="0"/>
                <a:ea typeface="Microsoft Sans Serif" pitchFamily="34" charset="0"/>
                <a:cs typeface="Times New Roman" pitchFamily="18" charset="0"/>
              </a:rPr>
              <a:t>Smart dustbin with segregation of wet and dry</a:t>
            </a:r>
            <a:endParaRPr altLang="en-US" b="1" smtClean="0">
              <a:latin typeface="Times New Roman" pitchFamily="18" charset="0"/>
              <a:ea typeface="Microsoft Sans Serif" pitchFamily="34" charset="0"/>
              <a:cs typeface="Times New Roman" pitchFamily="18" charset="0"/>
            </a:endParaRPr>
          </a:p>
        </p:txBody>
      </p:sp>
      <p:pic>
        <p:nvPicPr>
          <p:cNvPr id="9220" name="Picture 1"/>
          <p:cNvPicPr>
            <a:picLocks noChangeAspect="1" noChangeArrowheads="1"/>
          </p:cNvPicPr>
          <p:nvPr/>
        </p:nvPicPr>
        <p:blipFill>
          <a:blip r:embed="rId3"/>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fld id="{8A589CF3-B0DD-4496-8232-6328348A94BF}" type="slidenum">
              <a:rPr lang="en-US" altLang="en-US"/>
              <a:pPr/>
              <a:t>2</a:t>
            </a:fld>
            <a:endParaRPr lang="en-US" altLang="en-US"/>
          </a:p>
        </p:txBody>
      </p:sp>
      <p:sp>
        <p:nvSpPr>
          <p:cNvPr id="11267" name="Content Placeholder 2"/>
          <p:cNvSpPr>
            <a:spLocks noGrp="1" noChangeArrowheads="1"/>
          </p:cNvSpPr>
          <p:nvPr>
            <p:ph sz="quarter" idx="1"/>
          </p:nvPr>
        </p:nvSpPr>
        <p:spPr>
          <a:xfrm>
            <a:off x="1219200" y="1081088"/>
            <a:ext cx="9496425" cy="5072062"/>
          </a:xfrm>
        </p:spPr>
        <p:txBody>
          <a:bodyPr/>
          <a:lstStyle/>
          <a:p>
            <a:pPr indent="-455613" eaLnBrk="1" hangingPunct="1">
              <a:spcBef>
                <a:spcPts val="800"/>
              </a:spcBef>
              <a:spcAft>
                <a:spcPts val="800"/>
              </a:spcAft>
              <a:buFont typeface="Wingdings" pitchFamily="2" charset="2"/>
              <a:buChar char="q"/>
            </a:pPr>
            <a:endParaRPr lang="en-IN" altLang="en-US" sz="800" smtClean="0">
              <a:latin typeface="Times New Roman" pitchFamily="18" charset="0"/>
              <a:ea typeface="Microsoft Sans Serif" pitchFamily="34" charset="0"/>
              <a:cs typeface="Times New Roman" pitchFamily="18" charset="0"/>
            </a:endParaRPr>
          </a:p>
          <a:p>
            <a:pPr indent="-455613" eaLnBrk="1" hangingPunct="1">
              <a:spcBef>
                <a:spcPts val="800"/>
              </a:spcBef>
              <a:spcAft>
                <a:spcPts val="800"/>
              </a:spcAft>
              <a:buFont typeface="Wingdings" pitchFamily="2" charset="2"/>
              <a:buChar char="q"/>
            </a:pPr>
            <a:r>
              <a:rPr lang="en-IN" altLang="en-US" sz="1400" smtClean="0">
                <a:latin typeface="Times New Roman" pitchFamily="18" charset="0"/>
                <a:ea typeface="Microsoft Sans Serif" pitchFamily="34" charset="0"/>
                <a:cs typeface="Times New Roman" pitchFamily="18" charset="0"/>
              </a:rPr>
              <a:t>ABSTRACT</a:t>
            </a:r>
          </a:p>
          <a:p>
            <a:pPr indent="-455613" eaLnBrk="1" hangingPunct="1">
              <a:spcBef>
                <a:spcPts val="800"/>
              </a:spcBef>
              <a:spcAft>
                <a:spcPts val="800"/>
              </a:spcAft>
              <a:buFont typeface="Wingdings" pitchFamily="2" charset="2"/>
              <a:buChar char="q"/>
            </a:pPr>
            <a:r>
              <a:rPr lang="en-IN" altLang="en-US" sz="1400" smtClean="0">
                <a:latin typeface="Times New Roman" pitchFamily="18" charset="0"/>
                <a:ea typeface="Microsoft Sans Serif" pitchFamily="34" charset="0"/>
                <a:cs typeface="Times New Roman" pitchFamily="18" charset="0"/>
              </a:rPr>
              <a:t>INTRODUCTION</a:t>
            </a:r>
          </a:p>
          <a:p>
            <a:pPr indent="-455613" eaLnBrk="1" hangingPunct="1">
              <a:spcBef>
                <a:spcPts val="800"/>
              </a:spcBef>
              <a:spcAft>
                <a:spcPts val="800"/>
              </a:spcAft>
              <a:buFont typeface="Wingdings" pitchFamily="2" charset="2"/>
              <a:buChar char="q"/>
            </a:pPr>
            <a:r>
              <a:rPr lang="en-IN" altLang="en-US" sz="1400" smtClean="0">
                <a:latin typeface="Times New Roman" pitchFamily="18" charset="0"/>
                <a:ea typeface="Microsoft Sans Serif" pitchFamily="34" charset="0"/>
                <a:cs typeface="Times New Roman" pitchFamily="18" charset="0"/>
              </a:rPr>
              <a:t>LITERATURE REVIEW</a:t>
            </a:r>
          </a:p>
          <a:p>
            <a:pPr indent="-455613" eaLnBrk="1" hangingPunct="1">
              <a:spcBef>
                <a:spcPts val="800"/>
              </a:spcBef>
              <a:spcAft>
                <a:spcPts val="800"/>
              </a:spcAft>
              <a:buFont typeface="Wingdings" pitchFamily="2" charset="2"/>
              <a:buChar char="q"/>
            </a:pPr>
            <a:r>
              <a:rPr lang="en-IN" altLang="en-US" sz="1400" smtClean="0">
                <a:latin typeface="Times New Roman" pitchFamily="18" charset="0"/>
                <a:ea typeface="Microsoft Sans Serif" pitchFamily="34" charset="0"/>
                <a:cs typeface="Times New Roman" pitchFamily="18" charset="0"/>
              </a:rPr>
              <a:t>OBJECTIVE</a:t>
            </a:r>
          </a:p>
          <a:p>
            <a:pPr indent="-455613" eaLnBrk="1" hangingPunct="1">
              <a:spcBef>
                <a:spcPts val="800"/>
              </a:spcBef>
              <a:spcAft>
                <a:spcPts val="800"/>
              </a:spcAft>
              <a:buFont typeface="Wingdings" pitchFamily="2" charset="2"/>
              <a:buChar char="q"/>
            </a:pPr>
            <a:r>
              <a:rPr lang="en-IN" altLang="en-US" sz="1400" smtClean="0">
                <a:latin typeface="Times New Roman" pitchFamily="18" charset="0"/>
                <a:ea typeface="Microsoft Sans Serif" pitchFamily="34" charset="0"/>
                <a:cs typeface="Times New Roman" pitchFamily="18" charset="0"/>
              </a:rPr>
              <a:t>EXISTING METHOD</a:t>
            </a:r>
          </a:p>
          <a:p>
            <a:pPr indent="-455613" eaLnBrk="1" hangingPunct="1">
              <a:spcBef>
                <a:spcPts val="800"/>
              </a:spcBef>
              <a:spcAft>
                <a:spcPts val="800"/>
              </a:spcAft>
              <a:buFont typeface="Wingdings" pitchFamily="2" charset="2"/>
              <a:buChar char="q"/>
            </a:pPr>
            <a:r>
              <a:rPr lang="en-IN" altLang="en-US" sz="1400" smtClean="0">
                <a:latin typeface="Times New Roman" pitchFamily="18" charset="0"/>
                <a:ea typeface="Microsoft Sans Serif" pitchFamily="34" charset="0"/>
                <a:cs typeface="Times New Roman" pitchFamily="18" charset="0"/>
              </a:rPr>
              <a:t>PROPOSED METHOD</a:t>
            </a:r>
          </a:p>
          <a:p>
            <a:pPr indent="-455613" eaLnBrk="1" hangingPunct="1">
              <a:spcBef>
                <a:spcPts val="800"/>
              </a:spcBef>
              <a:spcAft>
                <a:spcPts val="800"/>
              </a:spcAft>
              <a:buFont typeface="Wingdings" pitchFamily="2" charset="2"/>
              <a:buChar char="q"/>
            </a:pPr>
            <a:r>
              <a:rPr lang="en-US" altLang="en-US" sz="1400" smtClean="0">
                <a:latin typeface="Times New Roman" pitchFamily="18" charset="0"/>
                <a:ea typeface="Microsoft Sans Serif" pitchFamily="34" charset="0"/>
                <a:cs typeface="Times New Roman" pitchFamily="18" charset="0"/>
              </a:rPr>
              <a:t>HARDWARE &amp; SOFTWARE INVOLVED</a:t>
            </a:r>
            <a:endParaRPr lang="en-IN" altLang="en-US" sz="1400" smtClean="0">
              <a:latin typeface="Times New Roman" pitchFamily="18" charset="0"/>
              <a:ea typeface="Microsoft Sans Serif" pitchFamily="34" charset="0"/>
              <a:cs typeface="Times New Roman" pitchFamily="18" charset="0"/>
            </a:endParaRPr>
          </a:p>
          <a:p>
            <a:pPr indent="-455613" eaLnBrk="1" hangingPunct="1">
              <a:spcBef>
                <a:spcPts val="800"/>
              </a:spcBef>
              <a:spcAft>
                <a:spcPts val="800"/>
              </a:spcAft>
              <a:buFont typeface="Wingdings" pitchFamily="2" charset="2"/>
              <a:buChar char="q"/>
            </a:pPr>
            <a:r>
              <a:rPr lang="en-IN" altLang="en-US" sz="1400" smtClean="0">
                <a:latin typeface="Times New Roman" pitchFamily="18" charset="0"/>
                <a:ea typeface="Microsoft Sans Serif" pitchFamily="34" charset="0"/>
                <a:cs typeface="Times New Roman" pitchFamily="18" charset="0"/>
              </a:rPr>
              <a:t>ADVANTAGES AND APPLICATION</a:t>
            </a:r>
          </a:p>
          <a:p>
            <a:pPr indent="-455613" eaLnBrk="1" hangingPunct="1">
              <a:spcBef>
                <a:spcPts val="800"/>
              </a:spcBef>
              <a:spcAft>
                <a:spcPts val="800"/>
              </a:spcAft>
              <a:buFont typeface="Wingdings" pitchFamily="2" charset="2"/>
              <a:buChar char="q"/>
            </a:pPr>
            <a:r>
              <a:rPr lang="en-IN" altLang="en-US" sz="1400" smtClean="0">
                <a:latin typeface="Times New Roman" pitchFamily="18" charset="0"/>
                <a:ea typeface="Microsoft Sans Serif" pitchFamily="34" charset="0"/>
                <a:cs typeface="Times New Roman" pitchFamily="18" charset="0"/>
              </a:rPr>
              <a:t>SYSTEM DESIGN (Architecture)</a:t>
            </a:r>
          </a:p>
          <a:p>
            <a:pPr indent="-455613" eaLnBrk="1" hangingPunct="1">
              <a:spcBef>
                <a:spcPts val="800"/>
              </a:spcBef>
              <a:spcAft>
                <a:spcPts val="800"/>
              </a:spcAft>
              <a:buFont typeface="Wingdings" pitchFamily="2" charset="2"/>
              <a:buChar char="q"/>
            </a:pPr>
            <a:r>
              <a:rPr lang="en-IN" altLang="en-US" sz="1400" smtClean="0">
                <a:latin typeface="Times New Roman" pitchFamily="18" charset="0"/>
                <a:ea typeface="Microsoft Sans Serif" pitchFamily="34" charset="0"/>
                <a:cs typeface="Times New Roman" pitchFamily="18" charset="0"/>
              </a:rPr>
              <a:t>REFERENCES</a:t>
            </a:r>
          </a:p>
          <a:p>
            <a:pPr indent="-455613" eaLnBrk="1" hangingPunct="1">
              <a:lnSpc>
                <a:spcPct val="80000"/>
              </a:lnSpc>
            </a:pPr>
            <a:endParaRPr lang="en-IN" altLang="en-US" sz="700" smtClean="0">
              <a:ea typeface="Microsoft Sans Serif" pitchFamily="34" charset="0"/>
              <a:cs typeface="Times New Roman" pitchFamily="18" charset="0"/>
            </a:endParaRPr>
          </a:p>
        </p:txBody>
      </p:sp>
      <p:sp>
        <p:nvSpPr>
          <p:cNvPr id="11268" name="Title 1"/>
          <p:cNvSpPr>
            <a:spLocks noGrp="1" noChangeArrowheads="1"/>
          </p:cNvSpPr>
          <p:nvPr>
            <p:ph type="title"/>
          </p:nvPr>
        </p:nvSpPr>
        <p:spPr>
          <a:xfrm>
            <a:off x="358775" y="176213"/>
            <a:ext cx="11553825" cy="1066800"/>
          </a:xfrm>
        </p:spPr>
        <p:txBody>
          <a:bodyPr/>
          <a:lstStyle/>
          <a:p>
            <a:pPr algn="ctr" eaLnBrk="1" hangingPunct="1"/>
            <a:r>
              <a:rPr lang="en-IN" altLang="en-US" smtClean="0">
                <a:solidFill>
                  <a:srgbClr val="0E58C4"/>
                </a:solidFill>
                <a:latin typeface="Times New Roman" pitchFamily="18" charset="0"/>
                <a:ea typeface="Microsoft Sans Serif" pitchFamily="34" charset="0"/>
                <a:cs typeface="Times New Roman" pitchFamily="18" charset="0"/>
              </a:rPr>
              <a:t>Outline</a:t>
            </a:r>
          </a:p>
        </p:txBody>
      </p:sp>
      <p:pic>
        <p:nvPicPr>
          <p:cNvPr id="11269" name="Picture 4"/>
          <p:cNvPicPr>
            <a:picLocks noChangeAspect="1" noChangeArrowheads="1"/>
          </p:cNvPicPr>
          <p:nvPr/>
        </p:nvPicPr>
        <p:blipFill>
          <a:blip r:embed="rId3"/>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1"/>
          <p:cNvSpPr>
            <a:spLocks noGrp="1" noChangeArrowheads="1"/>
          </p:cNvSpPr>
          <p:nvPr>
            <p:ph sz="quarter" idx="1"/>
          </p:nvPr>
        </p:nvSpPr>
        <p:spPr>
          <a:xfrm>
            <a:off x="684213" y="1417638"/>
            <a:ext cx="10898187" cy="4602162"/>
          </a:xfrm>
        </p:spPr>
        <p:txBody>
          <a:bodyPr/>
          <a:lstStyle/>
          <a:p>
            <a:r>
              <a:rPr lang="en-US" altLang="en-US" sz="1800" dirty="0" smtClean="0">
                <a:latin typeface="Times New Roman" pitchFamily="18" charset="0"/>
                <a:cs typeface="Times New Roman" pitchFamily="18" charset="0"/>
              </a:rPr>
              <a:t>Solid </a:t>
            </a:r>
            <a:r>
              <a:rPr lang="en-US" altLang="en-US" sz="1800" dirty="0" smtClean="0">
                <a:latin typeface="Times New Roman" pitchFamily="18" charset="0"/>
                <a:cs typeface="Times New Roman" pitchFamily="18" charset="0"/>
              </a:rPr>
              <a:t>waste management has become a major environmental issue due to rapid urbanization and population growth. Improper disposal and lack of segregation lead to pollution, health hazards, and unhygienic surroundings. The traditional waste collection system does not provide real-time monitoring of garbage levels, which results in overflow and inefficient waste handling.</a:t>
            </a:r>
          </a:p>
          <a:p>
            <a:r>
              <a:rPr lang="en-US" altLang="en-US" sz="1800" dirty="0" smtClean="0">
                <a:latin typeface="Times New Roman" pitchFamily="18" charset="0"/>
                <a:cs typeface="Times New Roman" pitchFamily="18" charset="0"/>
              </a:rPr>
              <a:t>The proposed project, </a:t>
            </a:r>
            <a:r>
              <a:rPr lang="en-US" altLang="en-US" sz="1800" b="1" dirty="0" smtClean="0">
                <a:latin typeface="Times New Roman" pitchFamily="18" charset="0"/>
                <a:cs typeface="Times New Roman" pitchFamily="18" charset="0"/>
              </a:rPr>
              <a:t>Smart Dustbin with Automatic Waste Segregation and Monitoring System</a:t>
            </a:r>
            <a:r>
              <a:rPr lang="en-US" altLang="en-US" sz="1800" dirty="0" smtClean="0">
                <a:latin typeface="Times New Roman" pitchFamily="18" charset="0"/>
                <a:cs typeface="Times New Roman" pitchFamily="18" charset="0"/>
              </a:rPr>
              <a:t>, aims to develop an intelligent and cost-effective solution for efficient waste management. The system uses sensors such as ultrasonic sensors to detect garbage levels, moisture sensors to identify wet waste, and metal sensors to detect metallic waste. A microcontroller controls the entire operation and directs the waste into appropriate compartments using a servo motor. When the dustbin reaches its maximum capacity, a notification is sent through a GSM/</a:t>
            </a:r>
            <a:r>
              <a:rPr lang="en-US" altLang="en-US" sz="1800" dirty="0" err="1" smtClean="0">
                <a:latin typeface="Times New Roman" pitchFamily="18" charset="0"/>
                <a:cs typeface="Times New Roman" pitchFamily="18" charset="0"/>
              </a:rPr>
              <a:t>WiFi</a:t>
            </a:r>
            <a:r>
              <a:rPr lang="en-US" altLang="en-US" sz="1800" dirty="0" smtClean="0">
                <a:latin typeface="Times New Roman" pitchFamily="18" charset="0"/>
                <a:cs typeface="Times New Roman" pitchFamily="18" charset="0"/>
              </a:rPr>
              <a:t> module to the concerned authority.</a:t>
            </a:r>
          </a:p>
          <a:p>
            <a:r>
              <a:rPr lang="en-US" altLang="en-US" sz="1800" dirty="0" smtClean="0">
                <a:latin typeface="Times New Roman" pitchFamily="18" charset="0"/>
                <a:cs typeface="Times New Roman" pitchFamily="18" charset="0"/>
              </a:rPr>
              <a:t>This system reduces manual effort, prevents overflow, promotes proper waste segregation, and helps maintain cleanliness in public and residential areas. The proposed model is economical, reliable, and suitable for smart city applications.</a:t>
            </a:r>
          </a:p>
          <a:p>
            <a:endParaRPr lang="en-IN" altLang="en-US" sz="1800" dirty="0" smtClean="0"/>
          </a:p>
        </p:txBody>
      </p:sp>
      <p:sp>
        <p:nvSpPr>
          <p:cNvPr id="13315" name="Title 2"/>
          <p:cNvSpPr>
            <a:spLocks noGrp="1" noChangeArrowheads="1"/>
          </p:cNvSpPr>
          <p:nvPr>
            <p:ph type="title"/>
          </p:nvPr>
        </p:nvSpPr>
        <p:spPr/>
        <p:txBody>
          <a:bodyPr/>
          <a:lstStyle/>
          <a:p>
            <a:pPr algn="ctr"/>
            <a:r>
              <a:rPr lang="en-IN" altLang="en-US" smtClean="0">
                <a:solidFill>
                  <a:srgbClr val="0E58C4"/>
                </a:solidFill>
                <a:latin typeface="Times New Roman" pitchFamily="18" charset="0"/>
                <a:ea typeface="Microsoft Sans Serif" pitchFamily="34" charset="0"/>
                <a:cs typeface="Times New Roman" pitchFamily="18" charset="0"/>
              </a:rPr>
              <a:t>Abstract</a:t>
            </a:r>
            <a:endParaRPr lang="en-IN" altLang="en-US" smtClean="0">
              <a:ea typeface="Microsoft Sans Serif" pitchFamily="34" charset="0"/>
              <a:cs typeface="Times New Roman" pitchFamily="18" charset="0"/>
            </a:endParaRPr>
          </a:p>
        </p:txBody>
      </p:sp>
      <p:sp>
        <p:nvSpPr>
          <p:cNvPr id="6" name="Slide Number Placeholder 5"/>
          <p:cNvSpPr>
            <a:spLocks noGrp="1"/>
          </p:cNvSpPr>
          <p:nvPr>
            <p:ph type="sldNum" sz="quarter" idx="12"/>
          </p:nvPr>
        </p:nvSpPr>
        <p:spPr/>
        <p:txBody>
          <a:bodyPr/>
          <a:lstStyle/>
          <a:p>
            <a:fld id="{84CB3D24-3C5B-4A62-A2D6-BB9EA6E60405}" type="slidenum">
              <a:rPr lang="en-US" altLang="en-US"/>
              <a:pPr/>
              <a:t>3</a:t>
            </a:fld>
            <a:endParaRPr lang="en-US" altLang="en-US"/>
          </a:p>
        </p:txBody>
      </p:sp>
      <p:pic>
        <p:nvPicPr>
          <p:cNvPr id="13317" name="Picture 6"/>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p:cNvSpPr>
            <a:spLocks noGrp="1"/>
          </p:cNvSpPr>
          <p:nvPr>
            <p:ph type="sldNum" sz="quarter" idx="12"/>
          </p:nvPr>
        </p:nvSpPr>
        <p:spPr/>
        <p:txBody>
          <a:bodyPr/>
          <a:lstStyle/>
          <a:p>
            <a:fld id="{9E88A254-48BC-4314-ACDA-65FF35269B03}" type="slidenum">
              <a:rPr lang="en-US" altLang="en-US"/>
              <a:pPr/>
              <a:t>4</a:t>
            </a:fld>
            <a:endParaRPr lang="en-US" altLang="en-US"/>
          </a:p>
        </p:txBody>
      </p:sp>
      <p:sp>
        <p:nvSpPr>
          <p:cNvPr id="14339" name="Content Placeholder 2"/>
          <p:cNvSpPr>
            <a:spLocks noGrp="1" noChangeArrowheads="1"/>
          </p:cNvSpPr>
          <p:nvPr>
            <p:ph sz="quarter" idx="1"/>
          </p:nvPr>
        </p:nvSpPr>
        <p:spPr>
          <a:xfrm>
            <a:off x="804863" y="1303338"/>
            <a:ext cx="10777537" cy="4716462"/>
          </a:xfrm>
        </p:spPr>
        <p:txBody>
          <a:bodyPr/>
          <a:lstStyle/>
          <a:p>
            <a:r>
              <a:rPr lang="en-US" altLang="en-US" sz="1800" dirty="0" smtClean="0">
                <a:latin typeface="Times New Roman" pitchFamily="18" charset="0"/>
                <a:cs typeface="Times New Roman" pitchFamily="18" charset="0"/>
              </a:rPr>
              <a:t>Effective waste management is one of the most important challenges faced by today’s society. Due to increasing population and urbanization, the amount of waste generated daily has increased rapidly. In many places, waste is disposed of without proper segregation, which causes environmental pollution, health problems, and difficulties in recycling. Separating waste into dry and wet categories at the source is essential for efficient waste management.</a:t>
            </a:r>
          </a:p>
          <a:p>
            <a:r>
              <a:rPr lang="en-US" altLang="en-US" sz="1800" dirty="0" smtClean="0">
                <a:latin typeface="Times New Roman" pitchFamily="18" charset="0"/>
                <a:cs typeface="Times New Roman" pitchFamily="18" charset="0"/>
              </a:rPr>
              <a:t>The Smart Dustbin with segregation of dry and wet waste is designed to address this issue by automating the waste segregation process. This system uses sensors and a microcontroller to identify the type of waste and place it into the correct bin automatically. Wet waste is detected using a moisture sensor, while dry waste is identified when no moisture is present. The automation reduces human involvement and improves hygiene.</a:t>
            </a:r>
          </a:p>
          <a:p>
            <a:r>
              <a:rPr lang="en-US" altLang="en-US" sz="1800" dirty="0" smtClean="0">
                <a:latin typeface="Times New Roman" pitchFamily="18" charset="0"/>
                <a:cs typeface="Times New Roman" pitchFamily="18" charset="0"/>
              </a:rPr>
              <a:t>This project aims to promote cleanliness, reduce manual effort, and support eco-friendly waste disposal practices. The smart dustbin can be used in homes, schools, offices, and public places, contributing to a cleaner and healthier environment</a:t>
            </a:r>
            <a:endParaRPr lang="en-IN" altLang="en-US" sz="1800" dirty="0" smtClean="0">
              <a:solidFill>
                <a:srgbClr val="000000"/>
              </a:solidFill>
              <a:latin typeface="Times New Roman" pitchFamily="18" charset="0"/>
              <a:ea typeface="Microsoft Sans Serif" pitchFamily="34" charset="0"/>
              <a:cs typeface="Times New Roman" pitchFamily="18" charset="0"/>
            </a:endParaRPr>
          </a:p>
        </p:txBody>
      </p:sp>
      <p:sp>
        <p:nvSpPr>
          <p:cNvPr id="2" name="Title 1"/>
          <p:cNvSpPr>
            <a:spLocks noGrp="1"/>
          </p:cNvSpPr>
          <p:nvPr>
            <p:ph type="title"/>
          </p:nvPr>
        </p:nvSpPr>
        <p:spPr>
          <a:xfrm>
            <a:off x="944563" y="228600"/>
            <a:ext cx="10363200" cy="8382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Introduction</a:t>
            </a:r>
          </a:p>
        </p:txBody>
      </p:sp>
      <p:pic>
        <p:nvPicPr>
          <p:cNvPr id="14341" name="Picture 4"/>
          <p:cNvPicPr>
            <a:picLocks noChangeAspect="1" noChangeArrowheads="1"/>
          </p:cNvPicPr>
          <p:nvPr/>
        </p:nvPicPr>
        <p:blipFill>
          <a:blip r:embed="rId3"/>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AB84930-B593-4457-9EC4-2D5473CA9A73}" type="slidenum">
              <a:rPr lang="en-US" altLang="en-US"/>
              <a:pPr/>
              <a:t>5</a:t>
            </a:fld>
            <a:endParaRPr lang="en-US" altLang="en-US"/>
          </a:p>
        </p:txBody>
      </p:sp>
      <p:sp>
        <p:nvSpPr>
          <p:cNvPr id="7" name="Title 6"/>
          <p:cNvSpPr>
            <a:spLocks noGrp="1"/>
          </p:cNvSpPr>
          <p:nvPr>
            <p:ph type="title"/>
          </p:nvPr>
        </p:nvSpPr>
        <p:spPr>
          <a:xfrm>
            <a:off x="890588" y="182880"/>
            <a:ext cx="10363200" cy="917258"/>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Literature Survey</a:t>
            </a:r>
          </a:p>
        </p:txBody>
      </p:sp>
      <p:sp>
        <p:nvSpPr>
          <p:cNvPr id="17412" name="Content Placeholder 2"/>
          <p:cNvSpPr txBox="1">
            <a:spLocks noChangeArrowheads="1"/>
          </p:cNvSpPr>
          <p:nvPr/>
        </p:nvSpPr>
        <p:spPr bwMode="auto">
          <a:xfrm>
            <a:off x="1219200" y="1447800"/>
            <a:ext cx="10363200" cy="4572000"/>
          </a:xfrm>
          <a:prstGeom prst="rect">
            <a:avLst/>
          </a:prstGeom>
          <a:noFill/>
          <a:ln w="9525">
            <a:noFill/>
            <a:miter lim="800000"/>
            <a:headEnd/>
            <a:tailEnd/>
          </a:ln>
        </p:spPr>
        <p:txBody>
          <a:bodyPr/>
          <a:lstStyle/>
          <a:p>
            <a:pPr marL="273050" indent="-457200" eaLnBrk="1" hangingPunct="1">
              <a:spcBef>
                <a:spcPts val="575"/>
              </a:spcBef>
              <a:buClr>
                <a:schemeClr val="accent1"/>
              </a:buClr>
              <a:buSzPct val="85000"/>
              <a:buFont typeface="Wingdings" pitchFamily="2" charset="2"/>
              <a:buChar char="q"/>
            </a:pPr>
            <a:endParaRPr lang="en-IN" altLang="en-US">
              <a:solidFill>
                <a:srgbClr val="000000"/>
              </a:solidFill>
              <a:latin typeface="Times New Roman" pitchFamily="18" charset="0"/>
              <a:ea typeface="Microsoft Sans Serif" pitchFamily="34" charset="0"/>
              <a:cs typeface="Times New Roman" pitchFamily="18" charset="0"/>
            </a:endParaRPr>
          </a:p>
          <a:p>
            <a:pPr marL="273050" indent="-457200" eaLnBrk="1" hangingPunct="1">
              <a:spcBef>
                <a:spcPts val="575"/>
              </a:spcBef>
              <a:buClr>
                <a:schemeClr val="accent1"/>
              </a:buClr>
              <a:buSzPct val="85000"/>
              <a:buFont typeface="Wingdings 2" pitchFamily="18" charset="2"/>
              <a:buChar char=""/>
            </a:pPr>
            <a:endParaRPr lang="en-IN" altLang="en-US">
              <a:latin typeface="Times New Roman" pitchFamily="18" charset="0"/>
              <a:ea typeface="Microsoft Sans Serif" pitchFamily="34" charset="0"/>
              <a:cs typeface="Times New Roman" pitchFamily="18" charset="0"/>
            </a:endParaRPr>
          </a:p>
        </p:txBody>
      </p:sp>
      <p:pic>
        <p:nvPicPr>
          <p:cNvPr id="17413" name="Picture 1"/>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graphicFrame>
        <p:nvGraphicFramePr>
          <p:cNvPr id="2" name="Table 1"/>
          <p:cNvGraphicFramePr>
            <a:graphicFrameLocks noGrp="1"/>
          </p:cNvGraphicFramePr>
          <p:nvPr/>
        </p:nvGraphicFramePr>
        <p:xfrm>
          <a:off x="547326" y="1175657"/>
          <a:ext cx="10412411" cy="5264332"/>
        </p:xfrm>
        <a:graphic>
          <a:graphicData uri="http://schemas.openxmlformats.org/drawingml/2006/table">
            <a:tbl>
              <a:tblPr/>
              <a:tblGrid>
                <a:gridCol w="928777"/>
                <a:gridCol w="1973173"/>
                <a:gridCol w="1450975"/>
                <a:gridCol w="769029"/>
                <a:gridCol w="2132921"/>
                <a:gridCol w="1707559"/>
                <a:gridCol w="1449977"/>
              </a:tblGrid>
              <a:tr h="290425">
                <a:tc>
                  <a:txBody>
                    <a:bodyPr/>
                    <a:lstStyle/>
                    <a:p>
                      <a:pPr>
                        <a:buNone/>
                      </a:pPr>
                      <a:r>
                        <a:rPr lang="en-IN" sz="1800" dirty="0">
                          <a:latin typeface="Times New Roman" pitchFamily="18" charset="0"/>
                          <a:cs typeface="Times New Roman" pitchFamily="18" charset="0"/>
                        </a:rPr>
                        <a:t>Ref No</a:t>
                      </a:r>
                    </a:p>
                  </a:txBody>
                  <a:tcPr marL="37172" marR="37172" marT="18588" marB="18588"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Title</a:t>
                      </a:r>
                    </a:p>
                  </a:txBody>
                  <a:tcPr marL="37172" marR="37172" marT="18588" marB="18588"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Authors</a:t>
                      </a:r>
                    </a:p>
                  </a:txBody>
                  <a:tcPr marL="37172" marR="37172" marT="18588" marB="18588"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Year</a:t>
                      </a:r>
                    </a:p>
                  </a:txBody>
                  <a:tcPr marL="37172" marR="37172" marT="18588" marB="18588"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Techniques Used</a:t>
                      </a:r>
                    </a:p>
                  </a:txBody>
                  <a:tcPr marL="37172" marR="37172" marT="18588" marB="18588"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Pros</a:t>
                      </a:r>
                    </a:p>
                  </a:txBody>
                  <a:tcPr marL="37172" marR="37172" marT="18588" marB="18588"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Cons</a:t>
                      </a:r>
                    </a:p>
                  </a:txBody>
                  <a:tcPr marL="37172" marR="37172" marT="18588" marB="18588" anchor="ctr">
                    <a:lnL>
                      <a:noFill/>
                    </a:lnL>
                    <a:lnR>
                      <a:noFill/>
                    </a:lnR>
                    <a:lnT>
                      <a:noFill/>
                    </a:lnT>
                    <a:lnB>
                      <a:noFill/>
                    </a:lnB>
                    <a:noFill/>
                  </a:tcPr>
                </a:tc>
              </a:tr>
              <a:tr h="649527">
                <a:tc>
                  <a:txBody>
                    <a:bodyPr/>
                    <a:lstStyle/>
                    <a:p>
                      <a:pPr>
                        <a:buNone/>
                      </a:pPr>
                      <a:r>
                        <a:rPr lang="en-IN" sz="1400" dirty="0">
                          <a:latin typeface="Times New Roman" pitchFamily="18" charset="0"/>
                          <a:cs typeface="Times New Roman" pitchFamily="18" charset="0"/>
                        </a:rPr>
                        <a:t>1</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Smart Waste Management System Using </a:t>
                      </a:r>
                      <a:r>
                        <a:rPr lang="en-IN" sz="1400" dirty="0" err="1">
                          <a:latin typeface="Times New Roman" pitchFamily="18" charset="0"/>
                          <a:cs typeface="Times New Roman" pitchFamily="18" charset="0"/>
                        </a:rPr>
                        <a:t>IoT</a:t>
                      </a:r>
                      <a:endParaRPr lang="en-IN" sz="1400" dirty="0">
                        <a:latin typeface="Times New Roman" pitchFamily="18" charset="0"/>
                        <a:cs typeface="Times New Roman" pitchFamily="18" charset="0"/>
                      </a:endParaRP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A. Kumar, R. Singh</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2020</a:t>
                      </a:r>
                    </a:p>
                  </a:txBody>
                  <a:tcPr marL="37172" marR="37172" marT="18588" marB="18588" anchor="ctr">
                    <a:lnL>
                      <a:noFill/>
                    </a:lnL>
                    <a:lnR>
                      <a:noFill/>
                    </a:lnR>
                    <a:lnT>
                      <a:noFill/>
                    </a:lnT>
                    <a:lnB>
                      <a:noFill/>
                    </a:lnB>
                    <a:noFill/>
                  </a:tcPr>
                </a:tc>
                <a:tc>
                  <a:txBody>
                    <a:bodyPr/>
                    <a:lstStyle/>
                    <a:p>
                      <a:pPr>
                        <a:buNone/>
                      </a:pPr>
                      <a:r>
                        <a:rPr lang="en-IN" sz="1400" dirty="0" err="1">
                          <a:latin typeface="Times New Roman" pitchFamily="18" charset="0"/>
                          <a:cs typeface="Times New Roman" pitchFamily="18" charset="0"/>
                        </a:rPr>
                        <a:t>IoT</a:t>
                      </a:r>
                      <a:r>
                        <a:rPr lang="en-IN" sz="1400" dirty="0">
                          <a:latin typeface="Times New Roman" pitchFamily="18" charset="0"/>
                          <a:cs typeface="Times New Roman" pitchFamily="18" charset="0"/>
                        </a:rPr>
                        <a:t> sensors, </a:t>
                      </a:r>
                      <a:r>
                        <a:rPr lang="en-IN" sz="1400" dirty="0" err="1">
                          <a:latin typeface="Times New Roman" pitchFamily="18" charset="0"/>
                          <a:cs typeface="Times New Roman" pitchFamily="18" charset="0"/>
                        </a:rPr>
                        <a:t>Arduino</a:t>
                      </a:r>
                      <a:r>
                        <a:rPr lang="en-IN" sz="1400" dirty="0">
                          <a:latin typeface="Times New Roman" pitchFamily="18" charset="0"/>
                          <a:cs typeface="Times New Roman" pitchFamily="18" charset="0"/>
                        </a:rPr>
                        <a:t>, GSM module</a:t>
                      </a:r>
                    </a:p>
                  </a:txBody>
                  <a:tcPr marL="37172" marR="37172" marT="18588" marB="18588" anchor="ctr">
                    <a:lnL>
                      <a:noFill/>
                    </a:lnL>
                    <a:lnR>
                      <a:noFill/>
                    </a:lnR>
                    <a:lnT>
                      <a:noFill/>
                    </a:lnT>
                    <a:lnB>
                      <a:noFill/>
                    </a:lnB>
                    <a:noFill/>
                  </a:tcPr>
                </a:tc>
                <a:tc>
                  <a:txBody>
                    <a:bodyPr/>
                    <a:lstStyle/>
                    <a:p>
                      <a:pPr>
                        <a:buNone/>
                      </a:pPr>
                      <a:r>
                        <a:rPr lang="en-US" sz="1400">
                          <a:latin typeface="Times New Roman" pitchFamily="18" charset="0"/>
                          <a:cs typeface="Times New Roman" pitchFamily="18" charset="0"/>
                        </a:rPr>
                        <a:t>Real-time monitoring, Reduces manual work</a:t>
                      </a:r>
                    </a:p>
                  </a:txBody>
                  <a:tcPr marL="37172" marR="37172" marT="18588" marB="18588"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High installation cost</a:t>
                      </a:r>
                    </a:p>
                  </a:txBody>
                  <a:tcPr marL="37172" marR="37172" marT="18588" marB="18588" anchor="ctr">
                    <a:lnL>
                      <a:noFill/>
                    </a:lnL>
                    <a:lnR>
                      <a:noFill/>
                    </a:lnR>
                    <a:lnT>
                      <a:noFill/>
                    </a:lnT>
                    <a:lnB>
                      <a:noFill/>
                    </a:lnB>
                    <a:noFill/>
                  </a:tcPr>
                </a:tc>
              </a:tr>
              <a:tr h="771311">
                <a:tc>
                  <a:txBody>
                    <a:bodyPr/>
                    <a:lstStyle/>
                    <a:p>
                      <a:pPr>
                        <a:buNone/>
                      </a:pPr>
                      <a:r>
                        <a:rPr lang="en-IN" sz="1400" dirty="0">
                          <a:latin typeface="Times New Roman" pitchFamily="18" charset="0"/>
                          <a:cs typeface="Times New Roman" pitchFamily="18" charset="0"/>
                        </a:rPr>
                        <a:t>2</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Automatic Garbage Segregation System</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S. </a:t>
                      </a:r>
                      <a:r>
                        <a:rPr lang="en-IN" sz="1400" dirty="0" err="1">
                          <a:latin typeface="Times New Roman" pitchFamily="18" charset="0"/>
                          <a:cs typeface="Times New Roman" pitchFamily="18" charset="0"/>
                        </a:rPr>
                        <a:t>Rao</a:t>
                      </a:r>
                      <a:r>
                        <a:rPr lang="en-IN" sz="1400" dirty="0">
                          <a:latin typeface="Times New Roman" pitchFamily="18" charset="0"/>
                          <a:cs typeface="Times New Roman" pitchFamily="18" charset="0"/>
                        </a:rPr>
                        <a:t>, P. Mehta</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2019</a:t>
                      </a:r>
                    </a:p>
                  </a:txBody>
                  <a:tcPr marL="37172" marR="37172" marT="18588" marB="18588" anchor="ctr">
                    <a:lnL>
                      <a:noFill/>
                    </a:lnL>
                    <a:lnR>
                      <a:noFill/>
                    </a:lnR>
                    <a:lnT>
                      <a:noFill/>
                    </a:lnT>
                    <a:lnB>
                      <a:noFill/>
                    </a:lnB>
                    <a:noFill/>
                  </a:tcPr>
                </a:tc>
                <a:tc>
                  <a:txBody>
                    <a:bodyPr/>
                    <a:lstStyle/>
                    <a:p>
                      <a:pPr>
                        <a:buNone/>
                      </a:pPr>
                      <a:r>
                        <a:rPr lang="pt-BR" sz="1400" dirty="0">
                          <a:latin typeface="Times New Roman" pitchFamily="18" charset="0"/>
                          <a:cs typeface="Times New Roman" pitchFamily="18" charset="0"/>
                        </a:rPr>
                        <a:t>Moisture sensor, Metal detector, Microcontroller</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Automatic waste separation</a:t>
                      </a:r>
                    </a:p>
                  </a:txBody>
                  <a:tcPr marL="37172" marR="37172" marT="18588" marB="18588"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Limited segregation accuracy</a:t>
                      </a:r>
                    </a:p>
                  </a:txBody>
                  <a:tcPr marL="37172" marR="37172" marT="18588" marB="18588" anchor="ctr">
                    <a:lnL>
                      <a:noFill/>
                    </a:lnL>
                    <a:lnR>
                      <a:noFill/>
                    </a:lnR>
                    <a:lnT>
                      <a:noFill/>
                    </a:lnT>
                    <a:lnB>
                      <a:noFill/>
                    </a:lnB>
                    <a:noFill/>
                  </a:tcPr>
                </a:tc>
              </a:tr>
              <a:tr h="405953">
                <a:tc>
                  <a:txBody>
                    <a:bodyPr/>
                    <a:lstStyle/>
                    <a:p>
                      <a:pPr>
                        <a:buNone/>
                      </a:pPr>
                      <a:r>
                        <a:rPr lang="en-IN" sz="1400" dirty="0">
                          <a:latin typeface="Times New Roman" pitchFamily="18" charset="0"/>
                          <a:cs typeface="Times New Roman" pitchFamily="18" charset="0"/>
                        </a:rPr>
                        <a:t>3</a:t>
                      </a:r>
                    </a:p>
                  </a:txBody>
                  <a:tcPr marL="37172" marR="37172" marT="18588" marB="18588" anchor="ctr">
                    <a:lnL>
                      <a:noFill/>
                    </a:lnL>
                    <a:lnR>
                      <a:noFill/>
                    </a:lnR>
                    <a:lnT>
                      <a:noFill/>
                    </a:lnT>
                    <a:lnB>
                      <a:noFill/>
                    </a:lnB>
                    <a:noFill/>
                  </a:tcPr>
                </a:tc>
                <a:tc>
                  <a:txBody>
                    <a:bodyPr/>
                    <a:lstStyle/>
                    <a:p>
                      <a:pPr>
                        <a:buNone/>
                      </a:pPr>
                      <a:r>
                        <a:rPr lang="en-IN" sz="1400" dirty="0" err="1">
                          <a:latin typeface="Times New Roman" pitchFamily="18" charset="0"/>
                          <a:cs typeface="Times New Roman" pitchFamily="18" charset="0"/>
                        </a:rPr>
                        <a:t>IoT</a:t>
                      </a:r>
                      <a:r>
                        <a:rPr lang="en-IN" sz="1400" dirty="0">
                          <a:latin typeface="Times New Roman" pitchFamily="18" charset="0"/>
                          <a:cs typeface="Times New Roman" pitchFamily="18" charset="0"/>
                        </a:rPr>
                        <a:t> Based Smart Dustbin</a:t>
                      </a:r>
                    </a:p>
                  </a:txBody>
                  <a:tcPr marL="37172" marR="37172" marT="18588" marB="18588" anchor="ctr">
                    <a:lnL>
                      <a:noFill/>
                    </a:lnL>
                    <a:lnR>
                      <a:noFill/>
                    </a:lnR>
                    <a:lnT>
                      <a:noFill/>
                    </a:lnT>
                    <a:lnB>
                      <a:noFill/>
                    </a:lnB>
                    <a:noFill/>
                  </a:tcPr>
                </a:tc>
                <a:tc>
                  <a:txBody>
                    <a:bodyPr/>
                    <a:lstStyle/>
                    <a:p>
                      <a:pPr>
                        <a:buNone/>
                      </a:pPr>
                      <a:r>
                        <a:rPr lang="en-IN" sz="700" dirty="0">
                          <a:latin typeface="Times New Roman" pitchFamily="18" charset="0"/>
                          <a:cs typeface="Times New Roman" pitchFamily="18" charset="0"/>
                        </a:rPr>
                        <a:t>M. Sharma</a:t>
                      </a:r>
                    </a:p>
                  </a:txBody>
                  <a:tcPr marL="37172" marR="37172" marT="18588" marB="18588" anchor="ctr">
                    <a:lnL>
                      <a:noFill/>
                    </a:lnL>
                    <a:lnR>
                      <a:noFill/>
                    </a:lnR>
                    <a:lnT>
                      <a:noFill/>
                    </a:lnT>
                    <a:lnB>
                      <a:noFill/>
                    </a:lnB>
                    <a:noFill/>
                  </a:tcPr>
                </a:tc>
                <a:tc>
                  <a:txBody>
                    <a:bodyPr/>
                    <a:lstStyle/>
                    <a:p>
                      <a:pPr>
                        <a:buNone/>
                      </a:pPr>
                      <a:r>
                        <a:rPr lang="en-IN" sz="700" dirty="0">
                          <a:latin typeface="Times New Roman" pitchFamily="18" charset="0"/>
                          <a:cs typeface="Times New Roman" pitchFamily="18" charset="0"/>
                        </a:rPr>
                        <a:t>2021</a:t>
                      </a:r>
                    </a:p>
                  </a:txBody>
                  <a:tcPr marL="37172" marR="37172" marT="18588" marB="18588"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Ultrasonic sensor, WiFi module</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Overflow alert system</a:t>
                      </a:r>
                    </a:p>
                  </a:txBody>
                  <a:tcPr marL="37172" marR="37172" marT="18588" marB="18588"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Depends on internet connection</a:t>
                      </a:r>
                    </a:p>
                  </a:txBody>
                  <a:tcPr marL="37172" marR="37172" marT="18588" marB="18588" anchor="ctr">
                    <a:lnL>
                      <a:noFill/>
                    </a:lnL>
                    <a:lnR>
                      <a:noFill/>
                    </a:lnR>
                    <a:lnT>
                      <a:noFill/>
                    </a:lnT>
                    <a:lnB>
                      <a:noFill/>
                    </a:lnB>
                    <a:noFill/>
                  </a:tcPr>
                </a:tc>
              </a:tr>
              <a:tr h="649527">
                <a:tc>
                  <a:txBody>
                    <a:bodyPr/>
                    <a:lstStyle/>
                    <a:p>
                      <a:pPr>
                        <a:buNone/>
                      </a:pPr>
                      <a:r>
                        <a:rPr lang="en-IN" sz="1400" dirty="0">
                          <a:latin typeface="Times New Roman" pitchFamily="18" charset="0"/>
                          <a:cs typeface="Times New Roman" pitchFamily="18" charset="0"/>
                        </a:rPr>
                        <a:t>4</a:t>
                      </a:r>
                    </a:p>
                  </a:txBody>
                  <a:tcPr marL="37172" marR="37172" marT="18588" marB="18588" anchor="ctr">
                    <a:lnL>
                      <a:noFill/>
                    </a:lnL>
                    <a:lnR>
                      <a:noFill/>
                    </a:lnR>
                    <a:lnT>
                      <a:noFill/>
                    </a:lnT>
                    <a:lnB>
                      <a:noFill/>
                    </a:lnB>
                    <a:noFill/>
                  </a:tcPr>
                </a:tc>
                <a:tc>
                  <a:txBody>
                    <a:bodyPr/>
                    <a:lstStyle/>
                    <a:p>
                      <a:pPr>
                        <a:buNone/>
                      </a:pPr>
                      <a:r>
                        <a:rPr lang="en-US" sz="1400" dirty="0">
                          <a:latin typeface="Times New Roman" pitchFamily="18" charset="0"/>
                          <a:cs typeface="Times New Roman" pitchFamily="18" charset="0"/>
                        </a:rPr>
                        <a:t>Waste Segregation Using Machine Learning</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K. </a:t>
                      </a:r>
                      <a:r>
                        <a:rPr lang="en-IN" sz="1400" dirty="0" err="1">
                          <a:latin typeface="Times New Roman" pitchFamily="18" charset="0"/>
                          <a:cs typeface="Times New Roman" pitchFamily="18" charset="0"/>
                        </a:rPr>
                        <a:t>Verma</a:t>
                      </a:r>
                      <a:endParaRPr lang="en-IN" sz="1400" dirty="0">
                        <a:latin typeface="Times New Roman" pitchFamily="18" charset="0"/>
                        <a:cs typeface="Times New Roman" pitchFamily="18" charset="0"/>
                      </a:endParaRP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2022</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Image processing, ML algorithms</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High classification accuracy</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Expensive and complex system</a:t>
                      </a:r>
                    </a:p>
                  </a:txBody>
                  <a:tcPr marL="37172" marR="37172" marT="18588" marB="18588" anchor="ctr">
                    <a:lnL>
                      <a:noFill/>
                    </a:lnL>
                    <a:lnR>
                      <a:noFill/>
                    </a:lnR>
                    <a:lnT>
                      <a:noFill/>
                    </a:lnT>
                    <a:lnB>
                      <a:noFill/>
                    </a:lnB>
                    <a:noFill/>
                  </a:tcPr>
                </a:tc>
              </a:tr>
              <a:tr h="527740">
                <a:tc>
                  <a:txBody>
                    <a:bodyPr/>
                    <a:lstStyle/>
                    <a:p>
                      <a:pPr>
                        <a:buNone/>
                      </a:pPr>
                      <a:r>
                        <a:rPr lang="en-IN" sz="1400">
                          <a:latin typeface="Times New Roman" pitchFamily="18" charset="0"/>
                          <a:cs typeface="Times New Roman" pitchFamily="18" charset="0"/>
                        </a:rPr>
                        <a:t>5</a:t>
                      </a:r>
                    </a:p>
                  </a:txBody>
                  <a:tcPr marL="37172" marR="37172" marT="18588" marB="18588" anchor="ctr">
                    <a:lnL>
                      <a:noFill/>
                    </a:lnL>
                    <a:lnR>
                      <a:noFill/>
                    </a:lnR>
                    <a:lnT>
                      <a:noFill/>
                    </a:lnT>
                    <a:lnB>
                      <a:noFill/>
                    </a:lnB>
                    <a:noFill/>
                  </a:tcPr>
                </a:tc>
                <a:tc>
                  <a:txBody>
                    <a:bodyPr/>
                    <a:lstStyle/>
                    <a:p>
                      <a:pPr>
                        <a:buNone/>
                      </a:pPr>
                      <a:r>
                        <a:rPr lang="en-US" sz="1400" dirty="0">
                          <a:latin typeface="Times New Roman" pitchFamily="18" charset="0"/>
                          <a:cs typeface="Times New Roman" pitchFamily="18" charset="0"/>
                        </a:rPr>
                        <a:t>Smart Bin with Level Detection</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D. Patel</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2018</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Ultrasonic level detection</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Prevents bin overflow</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No automatic waste segregation</a:t>
                      </a:r>
                    </a:p>
                  </a:txBody>
                  <a:tcPr marL="37172" marR="37172" marT="18588" marB="18588" anchor="ctr">
                    <a:lnL>
                      <a:noFill/>
                    </a:lnL>
                    <a:lnR>
                      <a:noFill/>
                    </a:lnR>
                    <a:lnT>
                      <a:noFill/>
                    </a:lnT>
                    <a:lnB>
                      <a:noFill/>
                    </a:lnB>
                    <a:noFill/>
                  </a:tcPr>
                </a:tc>
              </a:tr>
              <a:tr h="527740">
                <a:tc>
                  <a:txBody>
                    <a:bodyPr/>
                    <a:lstStyle/>
                    <a:p>
                      <a:pPr>
                        <a:buNone/>
                      </a:pPr>
                      <a:r>
                        <a:rPr lang="en-IN" sz="1400">
                          <a:latin typeface="Times New Roman" pitchFamily="18" charset="0"/>
                          <a:cs typeface="Times New Roman" pitchFamily="18" charset="0"/>
                        </a:rPr>
                        <a:t>6</a:t>
                      </a:r>
                    </a:p>
                  </a:txBody>
                  <a:tcPr marL="37172" marR="37172" marT="18588" marB="18588" anchor="ctr">
                    <a:lnL>
                      <a:noFill/>
                    </a:lnL>
                    <a:lnR>
                      <a:noFill/>
                    </a:lnR>
                    <a:lnT>
                      <a:noFill/>
                    </a:lnT>
                    <a:lnB>
                      <a:noFill/>
                    </a:lnB>
                    <a:noFill/>
                  </a:tcPr>
                </a:tc>
                <a:tc>
                  <a:txBody>
                    <a:bodyPr/>
                    <a:lstStyle/>
                    <a:p>
                      <a:pPr>
                        <a:buNone/>
                      </a:pPr>
                      <a:r>
                        <a:rPr lang="en-US" sz="1400" dirty="0">
                          <a:latin typeface="Times New Roman" pitchFamily="18" charset="0"/>
                          <a:cs typeface="Times New Roman" pitchFamily="18" charset="0"/>
                        </a:rPr>
                        <a:t>RFID Based Waste Monitoring System</a:t>
                      </a:r>
                    </a:p>
                  </a:txBody>
                  <a:tcPr marL="37172" marR="37172" marT="18588" marB="18588"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L. Joseph</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2020</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RFID tags, Database management</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Tracks waste collection efficiently</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Costly implementation</a:t>
                      </a:r>
                    </a:p>
                  </a:txBody>
                  <a:tcPr marL="37172" marR="37172" marT="18588" marB="18588" anchor="ctr">
                    <a:lnL>
                      <a:noFill/>
                    </a:lnL>
                    <a:lnR>
                      <a:noFill/>
                    </a:lnR>
                    <a:lnT>
                      <a:noFill/>
                    </a:lnT>
                    <a:lnB>
                      <a:noFill/>
                    </a:lnB>
                    <a:noFill/>
                  </a:tcPr>
                </a:tc>
              </a:tr>
              <a:tr h="649527">
                <a:tc>
                  <a:txBody>
                    <a:bodyPr/>
                    <a:lstStyle/>
                    <a:p>
                      <a:pPr>
                        <a:buNone/>
                      </a:pPr>
                      <a:r>
                        <a:rPr lang="en-IN" sz="1400">
                          <a:latin typeface="Times New Roman" pitchFamily="18" charset="0"/>
                          <a:cs typeface="Times New Roman" pitchFamily="18" charset="0"/>
                        </a:rPr>
                        <a:t>7</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Solar Powered Smart Garbage System</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R. Khan</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2021</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Solar panel, </a:t>
                      </a:r>
                      <a:r>
                        <a:rPr lang="en-IN" sz="1400" dirty="0" err="1">
                          <a:latin typeface="Times New Roman" pitchFamily="18" charset="0"/>
                          <a:cs typeface="Times New Roman" pitchFamily="18" charset="0"/>
                        </a:rPr>
                        <a:t>IoT</a:t>
                      </a:r>
                      <a:r>
                        <a:rPr lang="en-IN" sz="1400" dirty="0">
                          <a:latin typeface="Times New Roman" pitchFamily="18" charset="0"/>
                          <a:cs typeface="Times New Roman" pitchFamily="18" charset="0"/>
                        </a:rPr>
                        <a:t> sensors</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Energy efficient</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Weather dependent</a:t>
                      </a:r>
                    </a:p>
                  </a:txBody>
                  <a:tcPr marL="37172" marR="37172" marT="18588" marB="18588" anchor="ctr">
                    <a:lnL>
                      <a:noFill/>
                    </a:lnL>
                    <a:lnR>
                      <a:noFill/>
                    </a:lnR>
                    <a:lnT>
                      <a:noFill/>
                    </a:lnT>
                    <a:lnB>
                      <a:noFill/>
                    </a:lnB>
                    <a:noFill/>
                  </a:tcPr>
                </a:tc>
              </a:tr>
              <a:tr h="713568">
                <a:tc>
                  <a:txBody>
                    <a:bodyPr/>
                    <a:lstStyle/>
                    <a:p>
                      <a:pPr>
                        <a:buNone/>
                      </a:pPr>
                      <a:r>
                        <a:rPr lang="en-IN" sz="1400" dirty="0">
                          <a:latin typeface="Times New Roman" pitchFamily="18" charset="0"/>
                          <a:cs typeface="Times New Roman" pitchFamily="18" charset="0"/>
                        </a:rPr>
                        <a:t>8</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AI Based Waste Sorting System</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T. Reddy</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2023</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Artificial Intelligence, Conveyor mechanism</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Accurate sorting</a:t>
                      </a:r>
                    </a:p>
                  </a:txBody>
                  <a:tcPr marL="37172" marR="37172" marT="18588" marB="18588"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High maintenance cost</a:t>
                      </a:r>
                    </a:p>
                  </a:txBody>
                  <a:tcPr marL="37172" marR="37172" marT="18588" marB="18588" anchor="ctr">
                    <a:lnL>
                      <a:noFill/>
                    </a:lnL>
                    <a:lnR>
                      <a:noFill/>
                    </a:lnR>
                    <a:lnT>
                      <a:noFill/>
                    </a:lnT>
                    <a:lnB>
                      <a:noFill/>
                    </a:lnB>
                    <a:noFill/>
                  </a:tcPr>
                </a:tc>
              </a:tr>
            </a:tbl>
          </a:graphicData>
        </a:graphic>
      </p:graphicFrame>
    </p:spTree>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9082777-E2FB-47B3-9022-D9822793AFA0}" type="slidenum">
              <a:rPr lang="en-US" altLang="en-US"/>
              <a:pPr/>
              <a:t>6</a:t>
            </a:fld>
            <a:endParaRPr lang="en-US" altLang="en-US"/>
          </a:p>
        </p:txBody>
      </p:sp>
      <p:sp>
        <p:nvSpPr>
          <p:cNvPr id="16387" name="Title 6"/>
          <p:cNvSpPr txBox="1">
            <a:spLocks noChangeArrowheads="1"/>
          </p:cNvSpPr>
          <p:nvPr/>
        </p:nvSpPr>
        <p:spPr bwMode="auto">
          <a:xfrm>
            <a:off x="993775" y="176213"/>
            <a:ext cx="10363200" cy="844550"/>
          </a:xfrm>
          <a:prstGeom prst="rect">
            <a:avLst/>
          </a:prstGeom>
          <a:noFill/>
          <a:ln w="9525">
            <a:noFill/>
            <a:miter lim="800000"/>
            <a:headEnd/>
            <a:tailEnd/>
          </a:ln>
        </p:spPr>
        <p:txBody>
          <a:bodyPr bIns="91440" anchor="b"/>
          <a:lstStyle/>
          <a:p>
            <a:pPr algn="ctr" eaLnBrk="1" hangingPunct="1"/>
            <a:r>
              <a:rPr lang="en-IN" altLang="en-US" sz="4000">
                <a:solidFill>
                  <a:srgbClr val="0E58C4"/>
                </a:solidFill>
                <a:latin typeface="Times New Roman" pitchFamily="18" charset="0"/>
                <a:ea typeface="Microsoft Sans Serif" pitchFamily="34" charset="0"/>
                <a:cs typeface="Times New Roman" pitchFamily="18" charset="0"/>
              </a:rPr>
              <a:t>Literature Survey</a:t>
            </a:r>
          </a:p>
        </p:txBody>
      </p:sp>
      <p:sp>
        <p:nvSpPr>
          <p:cNvPr id="16388" name="Content Placeholder 2"/>
          <p:cNvSpPr txBox="1">
            <a:spLocks noChangeArrowheads="1"/>
          </p:cNvSpPr>
          <p:nvPr/>
        </p:nvSpPr>
        <p:spPr bwMode="auto">
          <a:xfrm>
            <a:off x="1219200" y="1447800"/>
            <a:ext cx="10363200" cy="4572000"/>
          </a:xfrm>
          <a:prstGeom prst="rect">
            <a:avLst/>
          </a:prstGeom>
          <a:noFill/>
          <a:ln w="9525">
            <a:noFill/>
            <a:miter lim="800000"/>
            <a:headEnd/>
            <a:tailEnd/>
          </a:ln>
        </p:spPr>
        <p:txBody>
          <a:bodyPr/>
          <a:lstStyle/>
          <a:p>
            <a:pPr marL="273050" indent="-457200" eaLnBrk="1" hangingPunct="1">
              <a:spcBef>
                <a:spcPts val="575"/>
              </a:spcBef>
              <a:buClr>
                <a:schemeClr val="accent1"/>
              </a:buClr>
              <a:buSzPct val="85000"/>
              <a:buFont typeface="Wingdings" pitchFamily="2" charset="2"/>
              <a:buChar char="q"/>
            </a:pPr>
            <a:endParaRPr lang="en-IN" altLang="en-US">
              <a:solidFill>
                <a:srgbClr val="000000"/>
              </a:solidFill>
              <a:latin typeface="Times New Roman" pitchFamily="18" charset="0"/>
              <a:ea typeface="Microsoft Sans Serif" pitchFamily="34" charset="0"/>
              <a:cs typeface="Times New Roman" pitchFamily="18" charset="0"/>
            </a:endParaRPr>
          </a:p>
          <a:p>
            <a:pPr marL="273050" indent="-457200" eaLnBrk="1" hangingPunct="1">
              <a:spcBef>
                <a:spcPts val="575"/>
              </a:spcBef>
              <a:buClr>
                <a:schemeClr val="accent1"/>
              </a:buClr>
              <a:buSzPct val="85000"/>
              <a:buFont typeface="Wingdings 2" pitchFamily="18" charset="2"/>
              <a:buChar char=""/>
            </a:pPr>
            <a:endParaRPr lang="en-IN" altLang="en-US">
              <a:latin typeface="Times New Roman" pitchFamily="18" charset="0"/>
              <a:ea typeface="Microsoft Sans Serif" pitchFamily="34" charset="0"/>
              <a:cs typeface="Times New Roman" pitchFamily="18" charset="0"/>
            </a:endParaRPr>
          </a:p>
        </p:txBody>
      </p:sp>
      <p:pic>
        <p:nvPicPr>
          <p:cNvPr id="16389" name="Picture 1"/>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graphicFrame>
        <p:nvGraphicFramePr>
          <p:cNvPr id="2" name="Table 1"/>
          <p:cNvGraphicFramePr>
            <a:graphicFrameLocks noGrp="1"/>
          </p:cNvGraphicFramePr>
          <p:nvPr/>
        </p:nvGraphicFramePr>
        <p:xfrm>
          <a:off x="731520" y="1112838"/>
          <a:ext cx="10703242" cy="5486092"/>
        </p:xfrm>
        <a:graphic>
          <a:graphicData uri="http://schemas.openxmlformats.org/drawingml/2006/table">
            <a:tbl>
              <a:tblPr/>
              <a:tblGrid>
                <a:gridCol w="927463"/>
                <a:gridCol w="2182994"/>
                <a:gridCol w="1518557"/>
                <a:gridCol w="883512"/>
                <a:gridCol w="2153602"/>
                <a:gridCol w="1518557"/>
                <a:gridCol w="1518557"/>
              </a:tblGrid>
              <a:tr h="309072">
                <a:tc>
                  <a:txBody>
                    <a:bodyPr/>
                    <a:lstStyle/>
                    <a:p>
                      <a:pPr>
                        <a:buNone/>
                      </a:pPr>
                      <a:r>
                        <a:rPr lang="en-IN" sz="2000" dirty="0">
                          <a:latin typeface="Times New Roman" pitchFamily="18" charset="0"/>
                          <a:cs typeface="Times New Roman" pitchFamily="18" charset="0"/>
                        </a:rPr>
                        <a:t>Ref No</a:t>
                      </a:r>
                    </a:p>
                  </a:txBody>
                  <a:tcPr marL="37174" marR="37174" marT="18585" marB="18585"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Title</a:t>
                      </a:r>
                    </a:p>
                  </a:txBody>
                  <a:tcPr marL="37174" marR="37174" marT="18585" marB="18585"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Authors</a:t>
                      </a:r>
                    </a:p>
                  </a:txBody>
                  <a:tcPr marL="37174" marR="37174" marT="18585" marB="18585"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Year</a:t>
                      </a:r>
                    </a:p>
                  </a:txBody>
                  <a:tcPr marL="37174" marR="37174" marT="18585" marB="18585"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Techniques Used</a:t>
                      </a:r>
                    </a:p>
                  </a:txBody>
                  <a:tcPr marL="37174" marR="37174" marT="18585" marB="18585"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Pros</a:t>
                      </a:r>
                    </a:p>
                  </a:txBody>
                  <a:tcPr marL="37174" marR="37174" marT="18585" marB="18585" anchor="ctr">
                    <a:lnL>
                      <a:noFill/>
                    </a:lnL>
                    <a:lnR>
                      <a:noFill/>
                    </a:lnR>
                    <a:lnT>
                      <a:noFill/>
                    </a:lnT>
                    <a:lnB>
                      <a:noFill/>
                    </a:lnB>
                    <a:noFill/>
                  </a:tcPr>
                </a:tc>
                <a:tc>
                  <a:txBody>
                    <a:bodyPr/>
                    <a:lstStyle/>
                    <a:p>
                      <a:pPr>
                        <a:buNone/>
                      </a:pPr>
                      <a:r>
                        <a:rPr lang="en-IN" sz="1800" dirty="0">
                          <a:latin typeface="Times New Roman" pitchFamily="18" charset="0"/>
                          <a:cs typeface="Times New Roman" pitchFamily="18" charset="0"/>
                        </a:rPr>
                        <a:t>Cons</a:t>
                      </a:r>
                    </a:p>
                  </a:txBody>
                  <a:tcPr marL="37174" marR="37174" marT="18585" marB="18585" anchor="ctr">
                    <a:lnL>
                      <a:noFill/>
                    </a:lnL>
                    <a:lnR>
                      <a:noFill/>
                    </a:lnR>
                    <a:lnT>
                      <a:noFill/>
                    </a:lnT>
                    <a:lnB>
                      <a:noFill/>
                    </a:lnB>
                    <a:noFill/>
                  </a:tcPr>
                </a:tc>
              </a:tr>
              <a:tr h="706451">
                <a:tc>
                  <a:txBody>
                    <a:bodyPr/>
                    <a:lstStyle/>
                    <a:p>
                      <a:pPr>
                        <a:buNone/>
                      </a:pPr>
                      <a:r>
                        <a:rPr lang="en-IN" sz="1400" dirty="0">
                          <a:latin typeface="Times New Roman" pitchFamily="18" charset="0"/>
                          <a:cs typeface="Times New Roman" pitchFamily="18" charset="0"/>
                        </a:rPr>
                        <a:t>9</a:t>
                      </a:r>
                    </a:p>
                  </a:txBody>
                  <a:tcPr marL="37174" marR="37174" marT="18585" marB="18585" anchor="ctr">
                    <a:lnL>
                      <a:noFill/>
                    </a:lnL>
                    <a:lnR>
                      <a:noFill/>
                    </a:lnR>
                    <a:lnT>
                      <a:noFill/>
                    </a:lnT>
                    <a:lnB>
                      <a:noFill/>
                    </a:lnB>
                    <a:noFill/>
                  </a:tcPr>
                </a:tc>
                <a:tc>
                  <a:txBody>
                    <a:bodyPr/>
                    <a:lstStyle/>
                    <a:p>
                      <a:pPr>
                        <a:buNone/>
                      </a:pPr>
                      <a:r>
                        <a:rPr lang="en-US" sz="1400" dirty="0" err="1">
                          <a:latin typeface="Times New Roman" pitchFamily="18" charset="0"/>
                          <a:cs typeface="Times New Roman" pitchFamily="18" charset="0"/>
                        </a:rPr>
                        <a:t>IoT</a:t>
                      </a:r>
                      <a:r>
                        <a:rPr lang="en-US" sz="1400" dirty="0">
                          <a:latin typeface="Times New Roman" pitchFamily="18" charset="0"/>
                          <a:cs typeface="Times New Roman" pitchFamily="18" charset="0"/>
                        </a:rPr>
                        <a:t> Enabled Waste Collection System</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R. </a:t>
                      </a:r>
                      <a:r>
                        <a:rPr lang="en-IN" sz="1400" dirty="0" err="1">
                          <a:latin typeface="Times New Roman" pitchFamily="18" charset="0"/>
                          <a:cs typeface="Times New Roman" pitchFamily="18" charset="0"/>
                        </a:rPr>
                        <a:t>Srinivas</a:t>
                      </a:r>
                      <a:r>
                        <a:rPr lang="en-IN" sz="1400" dirty="0">
                          <a:latin typeface="Times New Roman" pitchFamily="18" charset="0"/>
                          <a:cs typeface="Times New Roman" pitchFamily="18" charset="0"/>
                        </a:rPr>
                        <a:t>, K. </a:t>
                      </a:r>
                      <a:r>
                        <a:rPr lang="en-IN" sz="1400" dirty="0" err="1">
                          <a:latin typeface="Times New Roman" pitchFamily="18" charset="0"/>
                          <a:cs typeface="Times New Roman" pitchFamily="18" charset="0"/>
                        </a:rPr>
                        <a:t>Lakshmi</a:t>
                      </a:r>
                      <a:endParaRPr lang="en-IN" sz="1400" dirty="0">
                        <a:latin typeface="Times New Roman" pitchFamily="18" charset="0"/>
                        <a:cs typeface="Times New Roman" pitchFamily="18" charset="0"/>
                      </a:endParaRP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2021</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IoT module, Cloud storage, Ultrasonic sensor</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Real-time data monitoring</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Requires stable internet</a:t>
                      </a:r>
                    </a:p>
                  </a:txBody>
                  <a:tcPr marL="37174" marR="37174" marT="18585" marB="18585" anchor="ctr">
                    <a:lnL>
                      <a:noFill/>
                    </a:lnL>
                    <a:lnR>
                      <a:noFill/>
                    </a:lnR>
                    <a:lnT>
                      <a:noFill/>
                    </a:lnT>
                    <a:lnB>
                      <a:noFill/>
                    </a:lnB>
                    <a:noFill/>
                  </a:tcPr>
                </a:tc>
              </a:tr>
              <a:tr h="706451">
                <a:tc>
                  <a:txBody>
                    <a:bodyPr/>
                    <a:lstStyle/>
                    <a:p>
                      <a:pPr>
                        <a:buNone/>
                      </a:pPr>
                      <a:r>
                        <a:rPr lang="en-IN" sz="1400" dirty="0">
                          <a:latin typeface="Times New Roman" pitchFamily="18" charset="0"/>
                          <a:cs typeface="Times New Roman" pitchFamily="18" charset="0"/>
                        </a:rPr>
                        <a:t>10</a:t>
                      </a:r>
                    </a:p>
                  </a:txBody>
                  <a:tcPr marL="37174" marR="37174" marT="18585" marB="18585" anchor="ctr">
                    <a:lnL>
                      <a:noFill/>
                    </a:lnL>
                    <a:lnR>
                      <a:noFill/>
                    </a:lnR>
                    <a:lnT>
                      <a:noFill/>
                    </a:lnT>
                    <a:lnB>
                      <a:noFill/>
                    </a:lnB>
                    <a:noFill/>
                  </a:tcPr>
                </a:tc>
                <a:tc>
                  <a:txBody>
                    <a:bodyPr/>
                    <a:lstStyle/>
                    <a:p>
                      <a:pPr>
                        <a:buNone/>
                      </a:pPr>
                      <a:r>
                        <a:rPr lang="en-US" sz="1400" dirty="0">
                          <a:latin typeface="Times New Roman" pitchFamily="18" charset="0"/>
                          <a:cs typeface="Times New Roman" pitchFamily="18" charset="0"/>
                        </a:rPr>
                        <a:t>Automatic Waste Segregator Using </a:t>
                      </a:r>
                      <a:r>
                        <a:rPr lang="en-US" sz="1400" dirty="0" err="1">
                          <a:latin typeface="Times New Roman" pitchFamily="18" charset="0"/>
                          <a:cs typeface="Times New Roman" pitchFamily="18" charset="0"/>
                        </a:rPr>
                        <a:t>Arduino</a:t>
                      </a:r>
                      <a:endParaRPr lang="en-US" sz="1400" dirty="0">
                        <a:latin typeface="Times New Roman" pitchFamily="18" charset="0"/>
                        <a:cs typeface="Times New Roman" pitchFamily="18" charset="0"/>
                      </a:endParaRP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P. </a:t>
                      </a:r>
                      <a:r>
                        <a:rPr lang="en-IN" sz="1400" dirty="0" err="1">
                          <a:latin typeface="Times New Roman" pitchFamily="18" charset="0"/>
                          <a:cs typeface="Times New Roman" pitchFamily="18" charset="0"/>
                        </a:rPr>
                        <a:t>Ramesh</a:t>
                      </a:r>
                      <a:r>
                        <a:rPr lang="en-IN" sz="1400" dirty="0">
                          <a:latin typeface="Times New Roman" pitchFamily="18" charset="0"/>
                          <a:cs typeface="Times New Roman" pitchFamily="18" charset="0"/>
                        </a:rPr>
                        <a:t>, S. </a:t>
                      </a:r>
                      <a:r>
                        <a:rPr lang="en-IN" sz="1400" dirty="0" err="1">
                          <a:latin typeface="Times New Roman" pitchFamily="18" charset="0"/>
                          <a:cs typeface="Times New Roman" pitchFamily="18" charset="0"/>
                        </a:rPr>
                        <a:t>Teja</a:t>
                      </a:r>
                      <a:endParaRPr lang="en-IN" sz="1400" dirty="0">
                        <a:latin typeface="Times New Roman" pitchFamily="18" charset="0"/>
                        <a:cs typeface="Times New Roman" pitchFamily="18" charset="0"/>
                      </a:endParaRP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2020</a:t>
                      </a:r>
                    </a:p>
                  </a:txBody>
                  <a:tcPr marL="37174" marR="37174" marT="18585" marB="18585" anchor="ctr">
                    <a:lnL>
                      <a:noFill/>
                    </a:lnL>
                    <a:lnR>
                      <a:noFill/>
                    </a:lnR>
                    <a:lnT>
                      <a:noFill/>
                    </a:lnT>
                    <a:lnB>
                      <a:noFill/>
                    </a:lnB>
                    <a:noFill/>
                  </a:tcPr>
                </a:tc>
                <a:tc>
                  <a:txBody>
                    <a:bodyPr/>
                    <a:lstStyle/>
                    <a:p>
                      <a:pPr>
                        <a:buNone/>
                      </a:pPr>
                      <a:r>
                        <a:rPr lang="it-IT" sz="1400">
                          <a:latin typeface="Times New Roman" pitchFamily="18" charset="0"/>
                          <a:cs typeface="Times New Roman" pitchFamily="18" charset="0"/>
                        </a:rPr>
                        <a:t>Arduino UNO, Moisture sensor, Servo motor</a:t>
                      </a:r>
                    </a:p>
                  </a:txBody>
                  <a:tcPr marL="37174" marR="37174" marT="18585" marB="18585" anchor="ctr">
                    <a:lnL>
                      <a:noFill/>
                    </a:lnL>
                    <a:lnR>
                      <a:noFill/>
                    </a:lnR>
                    <a:lnT>
                      <a:noFill/>
                    </a:lnT>
                    <a:lnB>
                      <a:noFill/>
                    </a:lnB>
                    <a:noFill/>
                  </a:tcPr>
                </a:tc>
                <a:tc>
                  <a:txBody>
                    <a:bodyPr/>
                    <a:lstStyle/>
                    <a:p>
                      <a:pPr>
                        <a:buNone/>
                      </a:pPr>
                      <a:r>
                        <a:rPr lang="en-US" sz="1400">
                          <a:latin typeface="Times New Roman" pitchFamily="18" charset="0"/>
                          <a:cs typeface="Times New Roman" pitchFamily="18" charset="0"/>
                        </a:rPr>
                        <a:t>Low cost and simple design</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Limited waste categories</a:t>
                      </a:r>
                    </a:p>
                  </a:txBody>
                  <a:tcPr marL="37174" marR="37174" marT="18585" marB="18585" anchor="ctr">
                    <a:lnL>
                      <a:noFill/>
                    </a:lnL>
                    <a:lnR>
                      <a:noFill/>
                    </a:lnR>
                    <a:lnT>
                      <a:noFill/>
                    </a:lnT>
                    <a:lnB>
                      <a:noFill/>
                    </a:lnB>
                    <a:noFill/>
                  </a:tcPr>
                </a:tc>
              </a:tr>
              <a:tr h="706451">
                <a:tc>
                  <a:txBody>
                    <a:bodyPr/>
                    <a:lstStyle/>
                    <a:p>
                      <a:pPr>
                        <a:buNone/>
                      </a:pPr>
                      <a:r>
                        <a:rPr lang="en-IN" sz="1400" dirty="0">
                          <a:latin typeface="Times New Roman" pitchFamily="18" charset="0"/>
                          <a:cs typeface="Times New Roman" pitchFamily="18" charset="0"/>
                        </a:rPr>
                        <a:t>11</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Smart Garbage Monitoring System Using GSM</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M. </a:t>
                      </a:r>
                      <a:r>
                        <a:rPr lang="en-IN" sz="1400" dirty="0" err="1">
                          <a:latin typeface="Times New Roman" pitchFamily="18" charset="0"/>
                          <a:cs typeface="Times New Roman" pitchFamily="18" charset="0"/>
                        </a:rPr>
                        <a:t>Arjun</a:t>
                      </a:r>
                      <a:endParaRPr lang="en-IN" sz="1400" dirty="0">
                        <a:latin typeface="Times New Roman" pitchFamily="18" charset="0"/>
                        <a:cs typeface="Times New Roman" pitchFamily="18" charset="0"/>
                      </a:endParaRP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2019</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GSM module, Level sensor</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SMS alert when full</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No segregation facility</a:t>
                      </a:r>
                    </a:p>
                  </a:txBody>
                  <a:tcPr marL="37174" marR="37174" marT="18585" marB="18585" anchor="ctr">
                    <a:lnL>
                      <a:noFill/>
                    </a:lnL>
                    <a:lnR>
                      <a:noFill/>
                    </a:lnR>
                    <a:lnT>
                      <a:noFill/>
                    </a:lnT>
                    <a:lnB>
                      <a:noFill/>
                    </a:lnB>
                    <a:noFill/>
                  </a:tcPr>
                </a:tc>
              </a:tr>
              <a:tr h="573990">
                <a:tc>
                  <a:txBody>
                    <a:bodyPr/>
                    <a:lstStyle/>
                    <a:p>
                      <a:pPr>
                        <a:buNone/>
                      </a:pPr>
                      <a:r>
                        <a:rPr lang="en-IN" sz="1400" dirty="0">
                          <a:latin typeface="Times New Roman" pitchFamily="18" charset="0"/>
                          <a:cs typeface="Times New Roman" pitchFamily="18" charset="0"/>
                        </a:rPr>
                        <a:t>12</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AI Based Smart Recycling System</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V. </a:t>
                      </a:r>
                      <a:r>
                        <a:rPr lang="en-IN" sz="1400" dirty="0" err="1">
                          <a:latin typeface="Times New Roman" pitchFamily="18" charset="0"/>
                          <a:cs typeface="Times New Roman" pitchFamily="18" charset="0"/>
                        </a:rPr>
                        <a:t>Harika</a:t>
                      </a:r>
                      <a:r>
                        <a:rPr lang="en-IN" sz="1400" dirty="0">
                          <a:latin typeface="Times New Roman" pitchFamily="18" charset="0"/>
                          <a:cs typeface="Times New Roman" pitchFamily="18" charset="0"/>
                        </a:rPr>
                        <a:t>, D. </a:t>
                      </a:r>
                      <a:r>
                        <a:rPr lang="en-IN" sz="1400" dirty="0" err="1">
                          <a:latin typeface="Times New Roman" pitchFamily="18" charset="0"/>
                          <a:cs typeface="Times New Roman" pitchFamily="18" charset="0"/>
                        </a:rPr>
                        <a:t>Naresh</a:t>
                      </a:r>
                      <a:endParaRPr lang="en-IN" sz="1400" dirty="0">
                        <a:latin typeface="Times New Roman" pitchFamily="18" charset="0"/>
                        <a:cs typeface="Times New Roman" pitchFamily="18" charset="0"/>
                      </a:endParaRP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2022</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Artificial Intelligence, Image processing</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High accuracy sorting</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Expensive hardware</a:t>
                      </a:r>
                    </a:p>
                  </a:txBody>
                  <a:tcPr marL="37174" marR="37174" marT="18585" marB="18585" anchor="ctr">
                    <a:lnL>
                      <a:noFill/>
                    </a:lnL>
                    <a:lnR>
                      <a:noFill/>
                    </a:lnR>
                    <a:lnT>
                      <a:noFill/>
                    </a:lnT>
                    <a:lnB>
                      <a:noFill/>
                    </a:lnB>
                    <a:noFill/>
                  </a:tcPr>
                </a:tc>
              </a:tr>
              <a:tr h="573990">
                <a:tc>
                  <a:txBody>
                    <a:bodyPr/>
                    <a:lstStyle/>
                    <a:p>
                      <a:pPr>
                        <a:buNone/>
                      </a:pPr>
                      <a:r>
                        <a:rPr lang="en-IN" sz="1400" dirty="0">
                          <a:latin typeface="Times New Roman" pitchFamily="18" charset="0"/>
                          <a:cs typeface="Times New Roman" pitchFamily="18" charset="0"/>
                        </a:rPr>
                        <a:t>13</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Smart Dustbin with IR Sensor</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K. </a:t>
                      </a:r>
                      <a:r>
                        <a:rPr lang="en-IN" sz="1400" dirty="0" err="1">
                          <a:latin typeface="Times New Roman" pitchFamily="18" charset="0"/>
                          <a:cs typeface="Times New Roman" pitchFamily="18" charset="0"/>
                        </a:rPr>
                        <a:t>Sandeep</a:t>
                      </a:r>
                      <a:endParaRPr lang="en-IN" sz="1400" dirty="0">
                        <a:latin typeface="Times New Roman" pitchFamily="18" charset="0"/>
                        <a:cs typeface="Times New Roman" pitchFamily="18" charset="0"/>
                      </a:endParaRP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2018</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IR sensor, Microcontroller</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Automatic lid opening</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No monitoring system</a:t>
                      </a:r>
                    </a:p>
                  </a:txBody>
                  <a:tcPr marL="37174" marR="37174" marT="18585" marB="18585" anchor="ctr">
                    <a:lnL>
                      <a:noFill/>
                    </a:lnL>
                    <a:lnR>
                      <a:noFill/>
                    </a:lnR>
                    <a:lnT>
                      <a:noFill/>
                    </a:lnT>
                    <a:lnB>
                      <a:noFill/>
                    </a:lnB>
                    <a:noFill/>
                  </a:tcPr>
                </a:tc>
              </a:tr>
              <a:tr h="573990">
                <a:tc>
                  <a:txBody>
                    <a:bodyPr/>
                    <a:lstStyle/>
                    <a:p>
                      <a:pPr>
                        <a:buNone/>
                      </a:pPr>
                      <a:r>
                        <a:rPr lang="en-IN" sz="1400" dirty="0">
                          <a:latin typeface="Times New Roman" pitchFamily="18" charset="0"/>
                          <a:cs typeface="Times New Roman" pitchFamily="18" charset="0"/>
                        </a:rPr>
                        <a:t>14</a:t>
                      </a:r>
                    </a:p>
                  </a:txBody>
                  <a:tcPr marL="37174" marR="37174" marT="18585" marB="18585" anchor="ctr">
                    <a:lnL>
                      <a:noFill/>
                    </a:lnL>
                    <a:lnR>
                      <a:noFill/>
                    </a:lnR>
                    <a:lnT>
                      <a:noFill/>
                    </a:lnT>
                    <a:lnB>
                      <a:noFill/>
                    </a:lnB>
                    <a:noFill/>
                  </a:tcPr>
                </a:tc>
                <a:tc>
                  <a:txBody>
                    <a:bodyPr/>
                    <a:lstStyle/>
                    <a:p>
                      <a:pPr>
                        <a:buNone/>
                      </a:pPr>
                      <a:r>
                        <a:rPr lang="en-US" sz="1400" dirty="0">
                          <a:latin typeface="Times New Roman" pitchFamily="18" charset="0"/>
                          <a:cs typeface="Times New Roman" pitchFamily="18" charset="0"/>
                        </a:rPr>
                        <a:t>Cloud Based Waste Management System</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T. Divya</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2023</a:t>
                      </a:r>
                    </a:p>
                  </a:txBody>
                  <a:tcPr marL="37174" marR="37174" marT="18585" marB="18585" anchor="ctr">
                    <a:lnL>
                      <a:noFill/>
                    </a:lnL>
                    <a:lnR>
                      <a:noFill/>
                    </a:lnR>
                    <a:lnT>
                      <a:noFill/>
                    </a:lnT>
                    <a:lnB>
                      <a:noFill/>
                    </a:lnB>
                    <a:noFill/>
                  </a:tcPr>
                </a:tc>
                <a:tc>
                  <a:txBody>
                    <a:bodyPr/>
                    <a:lstStyle/>
                    <a:p>
                      <a:pPr>
                        <a:buNone/>
                      </a:pPr>
                      <a:r>
                        <a:rPr lang="en-IN" sz="1400" dirty="0" err="1">
                          <a:latin typeface="Times New Roman" pitchFamily="18" charset="0"/>
                          <a:cs typeface="Times New Roman" pitchFamily="18" charset="0"/>
                        </a:rPr>
                        <a:t>IoT</a:t>
                      </a:r>
                      <a:r>
                        <a:rPr lang="en-IN" sz="1400" dirty="0">
                          <a:latin typeface="Times New Roman" pitchFamily="18" charset="0"/>
                          <a:cs typeface="Times New Roman" pitchFamily="18" charset="0"/>
                        </a:rPr>
                        <a:t>, Cloud computing</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Centralized monitoring</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High setup cost</a:t>
                      </a:r>
                    </a:p>
                  </a:txBody>
                  <a:tcPr marL="37174" marR="37174" marT="18585" marB="18585" anchor="ctr">
                    <a:lnL>
                      <a:noFill/>
                    </a:lnL>
                    <a:lnR>
                      <a:noFill/>
                    </a:lnR>
                    <a:lnT>
                      <a:noFill/>
                    </a:lnT>
                    <a:lnB>
                      <a:noFill/>
                    </a:lnB>
                    <a:noFill/>
                  </a:tcPr>
                </a:tc>
              </a:tr>
              <a:tr h="441531">
                <a:tc>
                  <a:txBody>
                    <a:bodyPr/>
                    <a:lstStyle/>
                    <a:p>
                      <a:pPr>
                        <a:buNone/>
                      </a:pPr>
                      <a:r>
                        <a:rPr lang="en-IN" sz="1400" dirty="0">
                          <a:latin typeface="Times New Roman" pitchFamily="18" charset="0"/>
                          <a:cs typeface="Times New Roman" pitchFamily="18" charset="0"/>
                        </a:rPr>
                        <a:t>15</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Smart Waste Bin with Solar Power</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A. Karthik</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2021</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Solar panel, Ultrasonic sensor</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Energy efficient</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Weather dependent</a:t>
                      </a:r>
                    </a:p>
                  </a:txBody>
                  <a:tcPr marL="37174" marR="37174" marT="18585" marB="18585" anchor="ctr">
                    <a:lnL>
                      <a:noFill/>
                    </a:lnL>
                    <a:lnR>
                      <a:noFill/>
                    </a:lnR>
                    <a:lnT>
                      <a:noFill/>
                    </a:lnT>
                    <a:lnB>
                      <a:noFill/>
                    </a:lnB>
                    <a:noFill/>
                  </a:tcPr>
                </a:tc>
              </a:tr>
              <a:tr h="838909">
                <a:tc>
                  <a:txBody>
                    <a:bodyPr/>
                    <a:lstStyle/>
                    <a:p>
                      <a:pPr>
                        <a:buNone/>
                      </a:pPr>
                      <a:r>
                        <a:rPr lang="en-IN" sz="1400" dirty="0">
                          <a:latin typeface="Times New Roman" pitchFamily="18" charset="0"/>
                          <a:cs typeface="Times New Roman" pitchFamily="18" charset="0"/>
                        </a:rPr>
                        <a:t>16</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Sensor Based Automatic Garbage System</a:t>
                      </a:r>
                    </a:p>
                  </a:txBody>
                  <a:tcPr marL="37174" marR="37174" marT="18585" marB="18585" anchor="ctr">
                    <a:lnL>
                      <a:noFill/>
                    </a:lnL>
                    <a:lnR>
                      <a:noFill/>
                    </a:lnR>
                    <a:lnT>
                      <a:noFill/>
                    </a:lnT>
                    <a:lnB>
                      <a:noFill/>
                    </a:lnB>
                    <a:noFill/>
                  </a:tcPr>
                </a:tc>
                <a:tc>
                  <a:txBody>
                    <a:bodyPr/>
                    <a:lstStyle/>
                    <a:p>
                      <a:pPr>
                        <a:buNone/>
                      </a:pPr>
                      <a:r>
                        <a:rPr lang="en-IN" sz="1400">
                          <a:latin typeface="Times New Roman" pitchFamily="18" charset="0"/>
                          <a:cs typeface="Times New Roman" pitchFamily="18" charset="0"/>
                        </a:rPr>
                        <a:t>L. Bhavana</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2020</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Metal sensor, Moisture sensor, Conveyor mechanism</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Automatic segregation</a:t>
                      </a:r>
                    </a:p>
                  </a:txBody>
                  <a:tcPr marL="37174" marR="37174" marT="18585" marB="18585" anchor="ctr">
                    <a:lnL>
                      <a:noFill/>
                    </a:lnL>
                    <a:lnR>
                      <a:noFill/>
                    </a:lnR>
                    <a:lnT>
                      <a:noFill/>
                    </a:lnT>
                    <a:lnB>
                      <a:noFill/>
                    </a:lnB>
                    <a:noFill/>
                  </a:tcPr>
                </a:tc>
                <a:tc>
                  <a:txBody>
                    <a:bodyPr/>
                    <a:lstStyle/>
                    <a:p>
                      <a:pPr>
                        <a:buNone/>
                      </a:pPr>
                      <a:r>
                        <a:rPr lang="en-IN" sz="1400" dirty="0">
                          <a:latin typeface="Times New Roman" pitchFamily="18" charset="0"/>
                          <a:cs typeface="Times New Roman" pitchFamily="18" charset="0"/>
                        </a:rPr>
                        <a:t>Complex structure</a:t>
                      </a:r>
                    </a:p>
                  </a:txBody>
                  <a:tcPr marL="37174" marR="37174" marT="18585" marB="18585" anchor="ctr">
                    <a:lnL>
                      <a:noFill/>
                    </a:lnL>
                    <a:lnR>
                      <a:noFill/>
                    </a:lnR>
                    <a:lnT>
                      <a:noFill/>
                    </a:lnT>
                    <a:lnB>
                      <a:noFill/>
                    </a:lnB>
                    <a:noFill/>
                  </a:tcPr>
                </a:tc>
              </a:tr>
            </a:tbl>
          </a:graphicData>
        </a:graphic>
      </p:graphicFrame>
    </p:spTree>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p:cNvSpPr>
            <a:spLocks noGrp="1"/>
          </p:cNvSpPr>
          <p:nvPr>
            <p:ph type="sldNum" sz="quarter" idx="12"/>
          </p:nvPr>
        </p:nvSpPr>
        <p:spPr/>
        <p:txBody>
          <a:bodyPr/>
          <a:lstStyle/>
          <a:p>
            <a:fld id="{9B02FFB7-7936-4EE2-A0C1-AA091EC00818}" type="slidenum">
              <a:rPr lang="en-US" altLang="en-US"/>
              <a:pPr/>
              <a:t>7</a:t>
            </a:fld>
            <a:endParaRPr lang="en-US" altLang="en-US"/>
          </a:p>
        </p:txBody>
      </p:sp>
      <p:sp>
        <p:nvSpPr>
          <p:cNvPr id="18435" name="Content Placeholder 2"/>
          <p:cNvSpPr>
            <a:spLocks noGrp="1" noChangeArrowheads="1"/>
          </p:cNvSpPr>
          <p:nvPr>
            <p:ph sz="quarter" idx="1"/>
          </p:nvPr>
        </p:nvSpPr>
        <p:spPr/>
        <p:txBody>
          <a:bodyPr/>
          <a:lstStyle/>
          <a:p>
            <a:pPr indent="-457200" eaLnBrk="1" hangingPunct="1">
              <a:buFont typeface="Wingdings" pitchFamily="2" charset="2"/>
              <a:buChar char="q"/>
            </a:pPr>
            <a:endParaRPr lang="en-IN" altLang="en-US" sz="1800" dirty="0" smtClean="0">
              <a:solidFill>
                <a:srgbClr val="000000"/>
              </a:solidFill>
              <a:latin typeface="Times New Roman" pitchFamily="18" charset="0"/>
              <a:ea typeface="Microsoft Sans Serif" pitchFamily="34" charset="0"/>
              <a:cs typeface="Times New Roman" pitchFamily="18" charset="0"/>
            </a:endParaRPr>
          </a:p>
          <a:p>
            <a:pPr indent="-457200"/>
            <a:r>
              <a:rPr lang="en-US" altLang="en-US" sz="1800" dirty="0" smtClean="0">
                <a:latin typeface="Times New Roman" pitchFamily="18" charset="0"/>
                <a:ea typeface="Microsoft Sans Serif" pitchFamily="34" charset="0"/>
                <a:cs typeface="Times New Roman" pitchFamily="18" charset="0"/>
              </a:rPr>
              <a:t>Improper waste disposal and lack of segregation are major causes of environmental pollution and health issues. In most places, people throw all types of waste into a single bin, which makes recycling difficult and increases the load on landfills. Manual segregation of waste is time-consuming, unhygienic, and unsafe for workers.</a:t>
            </a:r>
          </a:p>
          <a:p>
            <a:pPr indent="-457200"/>
            <a:r>
              <a:rPr lang="en-US" altLang="en-US" sz="1800" dirty="0" smtClean="0">
                <a:latin typeface="Times New Roman" pitchFamily="18" charset="0"/>
                <a:ea typeface="Microsoft Sans Serif" pitchFamily="34" charset="0"/>
                <a:cs typeface="Times New Roman" pitchFamily="18" charset="0"/>
              </a:rPr>
              <a:t>The motivation behind developing a Smart Dustbin with segregation of dry and wet waste is to reduce human effort and encourage automatic waste separation at the source. By using sensors and automation, the system ensures proper segregation without direct human contact. This helps maintain cleanliness and improves public hygiene.</a:t>
            </a:r>
          </a:p>
          <a:p>
            <a:pPr indent="-457200"/>
            <a:r>
              <a:rPr lang="en-US" altLang="en-US" sz="1800" dirty="0" smtClean="0">
                <a:latin typeface="Times New Roman" pitchFamily="18" charset="0"/>
                <a:ea typeface="Microsoft Sans Serif" pitchFamily="34" charset="0"/>
                <a:cs typeface="Times New Roman" pitchFamily="18" charset="0"/>
              </a:rPr>
              <a:t>This project is also motivated by the need to support government cleanliness initiatives and promote smart city concepts. It encourages responsible waste disposal habits and contributes to a cleaner, healthier, and more sustainable environment.</a:t>
            </a:r>
          </a:p>
          <a:p>
            <a:pPr indent="-457200" eaLnBrk="1" hangingPunct="1"/>
            <a:endParaRPr lang="en-IN" altLang="en-US" sz="1800" dirty="0" smtClean="0">
              <a:latin typeface="Times New Roman" pitchFamily="18" charset="0"/>
              <a:ea typeface="Microsoft Sans Serif" pitchFamily="34" charset="0"/>
              <a:cs typeface="Times New Roman" pitchFamily="18" charset="0"/>
            </a:endParaRPr>
          </a:p>
        </p:txBody>
      </p:sp>
      <p:sp>
        <p:nvSpPr>
          <p:cNvPr id="2" name="Title 1"/>
          <p:cNvSpPr>
            <a:spLocks noGrp="1"/>
          </p:cNvSpPr>
          <p:nvPr>
            <p:ph type="title"/>
          </p:nvPr>
        </p:nvSpPr>
        <p:spPr>
          <a:xfrm>
            <a:off x="944563" y="228600"/>
            <a:ext cx="10363200" cy="8382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Motivation</a:t>
            </a:r>
          </a:p>
        </p:txBody>
      </p:sp>
      <p:pic>
        <p:nvPicPr>
          <p:cNvPr id="18437" name="Picture 3"/>
          <p:cNvPicPr>
            <a:picLocks noChangeAspect="1" noChangeArrowheads="1"/>
          </p:cNvPicPr>
          <p:nvPr/>
        </p:nvPicPr>
        <p:blipFill>
          <a:blip r:embed="rId3"/>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fld id="{14FEFC0B-22A9-433D-AB43-87E52174DCA0}" type="slidenum">
              <a:rPr lang="en-US" altLang="en-US"/>
              <a:pPr/>
              <a:t>8</a:t>
            </a:fld>
            <a:endParaRPr lang="en-US" altLang="en-US"/>
          </a:p>
        </p:txBody>
      </p:sp>
      <p:sp>
        <p:nvSpPr>
          <p:cNvPr id="20483" name="Content Placeholder 2"/>
          <p:cNvSpPr>
            <a:spLocks noGrp="1" noChangeArrowheads="1"/>
          </p:cNvSpPr>
          <p:nvPr>
            <p:ph sz="quarter" idx="1"/>
          </p:nvPr>
        </p:nvSpPr>
        <p:spPr>
          <a:xfrm>
            <a:off x="723900" y="1427163"/>
            <a:ext cx="10807700" cy="3924300"/>
          </a:xfrm>
        </p:spPr>
        <p:txBody>
          <a:bodyPr/>
          <a:lstStyle/>
          <a:p>
            <a:pPr indent="-457200" eaLnBrk="1" hangingPunct="1">
              <a:buFont typeface="Wingdings" pitchFamily="2" charset="2"/>
              <a:buChar char="q"/>
            </a:pPr>
            <a:endParaRPr lang="en-IN" altLang="en-US" sz="1800" smtClean="0">
              <a:solidFill>
                <a:srgbClr val="000000"/>
              </a:solidFill>
              <a:latin typeface="Times New Roman" pitchFamily="18" charset="0"/>
              <a:ea typeface="Microsoft Sans Serif" pitchFamily="34" charset="0"/>
              <a:cs typeface="Times New Roman" pitchFamily="18" charset="0"/>
            </a:endParaRPr>
          </a:p>
          <a:p>
            <a:pPr indent="-457200">
              <a:spcBef>
                <a:spcPct val="0"/>
              </a:spcBef>
              <a:buClrTx/>
              <a:buSzTx/>
              <a:buFontTx/>
              <a:buChar char="•"/>
            </a:pPr>
            <a:r>
              <a:rPr lang="en-US" altLang="en-US" sz="1800" smtClean="0">
                <a:latin typeface="Times New Roman" pitchFamily="18" charset="0"/>
                <a:ea typeface="Microsoft Sans Serif" pitchFamily="34" charset="0"/>
                <a:cs typeface="Times New Roman" pitchFamily="18" charset="0"/>
              </a:rPr>
              <a:t>To reduce manual effort involved in waste segregation.</a:t>
            </a:r>
          </a:p>
          <a:p>
            <a:pPr indent="-457200">
              <a:spcBef>
                <a:spcPct val="0"/>
              </a:spcBef>
              <a:buClrTx/>
              <a:buSzTx/>
              <a:buFontTx/>
              <a:buChar char="•"/>
            </a:pPr>
            <a:r>
              <a:rPr lang="en-US" altLang="en-US" sz="1800" smtClean="0">
                <a:latin typeface="Times New Roman" pitchFamily="18" charset="0"/>
                <a:ea typeface="Microsoft Sans Serif" pitchFamily="34" charset="0"/>
                <a:cs typeface="Times New Roman" pitchFamily="18" charset="0"/>
              </a:rPr>
              <a:t>To improve hygiene by minimizing human contact with waste.</a:t>
            </a:r>
          </a:p>
          <a:p>
            <a:pPr indent="-457200">
              <a:spcBef>
                <a:spcPct val="0"/>
              </a:spcBef>
              <a:buClrTx/>
              <a:buSzTx/>
              <a:buFontTx/>
              <a:buChar char="•"/>
            </a:pPr>
            <a:r>
              <a:rPr lang="en-US" altLang="en-US" sz="1800" smtClean="0">
                <a:latin typeface="Times New Roman" pitchFamily="18" charset="0"/>
                <a:ea typeface="Microsoft Sans Serif" pitchFamily="34" charset="0"/>
                <a:cs typeface="Times New Roman" pitchFamily="18" charset="0"/>
              </a:rPr>
              <a:t>To increase efficiency in waste management systems.</a:t>
            </a:r>
          </a:p>
          <a:p>
            <a:pPr indent="-457200">
              <a:spcBef>
                <a:spcPct val="0"/>
              </a:spcBef>
              <a:buClrTx/>
              <a:buSzTx/>
              <a:buFontTx/>
              <a:buChar char="•"/>
            </a:pPr>
            <a:r>
              <a:rPr lang="en-US" altLang="en-US" sz="1800" smtClean="0">
                <a:latin typeface="Times New Roman" pitchFamily="18" charset="0"/>
                <a:ea typeface="Microsoft Sans Serif" pitchFamily="34" charset="0"/>
                <a:cs typeface="Times New Roman" pitchFamily="18" charset="0"/>
              </a:rPr>
              <a:t>To support recycling by separating waste at the source.</a:t>
            </a:r>
          </a:p>
          <a:p>
            <a:pPr indent="-457200">
              <a:spcBef>
                <a:spcPct val="0"/>
              </a:spcBef>
              <a:buClrTx/>
              <a:buSzTx/>
              <a:buFontTx/>
              <a:buChar char="•"/>
            </a:pPr>
            <a:r>
              <a:rPr lang="en-US" altLang="en-US" sz="1800" smtClean="0">
                <a:latin typeface="Times New Roman" pitchFamily="18" charset="0"/>
                <a:ea typeface="Microsoft Sans Serif" pitchFamily="34" charset="0"/>
                <a:cs typeface="Times New Roman" pitchFamily="18" charset="0"/>
              </a:rPr>
              <a:t>To reduce environmental pollution caused by improper waste disposal.</a:t>
            </a:r>
          </a:p>
          <a:p>
            <a:pPr indent="-457200">
              <a:spcBef>
                <a:spcPct val="0"/>
              </a:spcBef>
              <a:buClrTx/>
              <a:buSzTx/>
              <a:buFontTx/>
              <a:buChar char="•"/>
            </a:pPr>
            <a:r>
              <a:rPr lang="en-US" altLang="en-US" sz="1800" smtClean="0">
                <a:latin typeface="Times New Roman" pitchFamily="18" charset="0"/>
                <a:ea typeface="Microsoft Sans Serif" pitchFamily="34" charset="0"/>
                <a:cs typeface="Times New Roman" pitchFamily="18" charset="0"/>
              </a:rPr>
              <a:t>To promote cleanliness in homes, institutions, and public places.</a:t>
            </a:r>
          </a:p>
          <a:p>
            <a:pPr indent="-457200">
              <a:spcBef>
                <a:spcPct val="0"/>
              </a:spcBef>
              <a:buClrTx/>
              <a:buSzTx/>
              <a:buFontTx/>
              <a:buChar char="•"/>
            </a:pPr>
            <a:r>
              <a:rPr lang="en-US" altLang="en-US" sz="1800" smtClean="0">
                <a:latin typeface="Times New Roman" pitchFamily="18" charset="0"/>
                <a:ea typeface="Microsoft Sans Serif" pitchFamily="34" charset="0"/>
                <a:cs typeface="Times New Roman" pitchFamily="18" charset="0"/>
              </a:rPr>
              <a:t>To make waste disposal simple and user-friendly.</a:t>
            </a:r>
          </a:p>
          <a:p>
            <a:pPr indent="-457200">
              <a:spcBef>
                <a:spcPct val="0"/>
              </a:spcBef>
              <a:buClrTx/>
              <a:buSzTx/>
              <a:buFontTx/>
              <a:buChar char="•"/>
            </a:pPr>
            <a:r>
              <a:rPr lang="en-US" altLang="en-US" sz="1800" smtClean="0">
                <a:latin typeface="Times New Roman" pitchFamily="18" charset="0"/>
                <a:ea typeface="Microsoft Sans Serif" pitchFamily="34" charset="0"/>
                <a:cs typeface="Times New Roman" pitchFamily="18" charset="0"/>
              </a:rPr>
              <a:t>To support smart city and Swachh Bharat initiatives.</a:t>
            </a:r>
          </a:p>
          <a:p>
            <a:pPr indent="-457200">
              <a:spcBef>
                <a:spcPct val="0"/>
              </a:spcBef>
              <a:buClrTx/>
              <a:buSzTx/>
              <a:buFontTx/>
              <a:buChar char="•"/>
            </a:pPr>
            <a:r>
              <a:rPr lang="en-US" altLang="en-US" sz="1800" smtClean="0">
                <a:latin typeface="Times New Roman" pitchFamily="18" charset="0"/>
                <a:ea typeface="Microsoft Sans Serif" pitchFamily="34" charset="0"/>
                <a:cs typeface="Times New Roman" pitchFamily="18" charset="0"/>
              </a:rPr>
              <a:t>To develop a cost-effective and reliable waste segregation system.</a:t>
            </a:r>
          </a:p>
          <a:p>
            <a:pPr indent="-457200">
              <a:spcBef>
                <a:spcPct val="0"/>
              </a:spcBef>
              <a:buClrTx/>
              <a:buSzTx/>
              <a:buFontTx/>
              <a:buChar char="•"/>
            </a:pPr>
            <a:r>
              <a:rPr lang="en-US" altLang="en-US" sz="1800" smtClean="0">
                <a:latin typeface="Times New Roman" pitchFamily="18" charset="0"/>
                <a:ea typeface="Microsoft Sans Serif" pitchFamily="34" charset="0"/>
                <a:cs typeface="Times New Roman" pitchFamily="18" charset="0"/>
              </a:rPr>
              <a:t>To design and implement a smart dustbin for automatic segregation of dry and wet waste</a:t>
            </a:r>
            <a:r>
              <a:rPr lang="en-US" altLang="en-US" sz="1600" smtClean="0">
                <a:latin typeface="Arial" charset="0"/>
                <a:ea typeface="Microsoft Sans Serif" pitchFamily="34" charset="0"/>
                <a:cs typeface="Times New Roman" pitchFamily="18" charset="0"/>
              </a:rPr>
              <a:t>.</a:t>
            </a:r>
          </a:p>
          <a:p>
            <a:pPr indent="-457200" eaLnBrk="1" hangingPunct="1">
              <a:buFont typeface="Wingdings" pitchFamily="2" charset="2"/>
              <a:buChar char="q"/>
            </a:pPr>
            <a:endParaRPr lang="en-IN" altLang="en-US" sz="1800" smtClean="0">
              <a:latin typeface="Times New Roman" pitchFamily="18" charset="0"/>
              <a:ea typeface="Microsoft Sans Serif" pitchFamily="34" charset="0"/>
              <a:cs typeface="Times New Roman" pitchFamily="18" charset="0"/>
            </a:endParaRPr>
          </a:p>
        </p:txBody>
      </p:sp>
      <p:sp>
        <p:nvSpPr>
          <p:cNvPr id="2" name="Title 1"/>
          <p:cNvSpPr>
            <a:spLocks noGrp="1"/>
          </p:cNvSpPr>
          <p:nvPr>
            <p:ph type="title"/>
          </p:nvPr>
        </p:nvSpPr>
        <p:spPr>
          <a:xfrm>
            <a:off x="361950" y="360363"/>
            <a:ext cx="11396663" cy="10668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Objective</a:t>
            </a:r>
          </a:p>
        </p:txBody>
      </p:sp>
      <p:pic>
        <p:nvPicPr>
          <p:cNvPr id="20485" name="Picture 2"/>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0CCB583-4E8B-41DC-9F93-A17DDC5EB67D}" type="slidenum">
              <a:rPr lang="en-US" altLang="en-US"/>
              <a:pPr/>
              <a:t>9</a:t>
            </a:fld>
            <a:endParaRPr lang="en-US" altLang="en-US"/>
          </a:p>
        </p:txBody>
      </p:sp>
      <p:sp>
        <p:nvSpPr>
          <p:cNvPr id="9" name="Content Placeholder 2"/>
          <p:cNvSpPr>
            <a:spLocks noGrp="1"/>
          </p:cNvSpPr>
          <p:nvPr>
            <p:ph sz="quarter" idx="1"/>
          </p:nvPr>
        </p:nvSpPr>
        <p:spPr>
          <a:xfrm>
            <a:off x="549275" y="1447800"/>
            <a:ext cx="11033125" cy="5318125"/>
          </a:xfrm>
        </p:spPr>
        <p:txBody>
          <a:bodyPr>
            <a:normAutofit/>
          </a:bodyPr>
          <a:lstStyle/>
          <a:p>
            <a:r>
              <a:rPr lang="en-US" sz="1800" dirty="0" smtClean="0">
                <a:latin typeface="Times New Roman" pitchFamily="18" charset="0"/>
                <a:cs typeface="Times New Roman" pitchFamily="18" charset="0"/>
              </a:rPr>
              <a:t> The </a:t>
            </a:r>
            <a:r>
              <a:rPr lang="en-US" sz="1800" dirty="0" smtClean="0">
                <a:latin typeface="Times New Roman" pitchFamily="18" charset="0"/>
                <a:cs typeface="Times New Roman" pitchFamily="18" charset="0"/>
              </a:rPr>
              <a:t>existing waste management system, waste is collected and disposed of without proper segregation at the source. Most people throw all types of waste such as food waste, plastic, paper, and metal into a single dustbin. Later, segregation is done manually by sanitation workers, which is time-consuming, unhygienic, and unsafe.</a:t>
            </a:r>
          </a:p>
          <a:p>
            <a:r>
              <a:rPr lang="en-US" sz="1800" dirty="0" smtClean="0">
                <a:latin typeface="Times New Roman" pitchFamily="18" charset="0"/>
                <a:cs typeface="Times New Roman" pitchFamily="18" charset="0"/>
              </a:rPr>
              <a:t>In some areas, separate bins are provided for dry and wet waste, but proper usage is not always followed due to lack of awareness and negligence. Manual segregation leads to health risks for workers and increases operational costs. It also reduces the efficiency of recycling processes and causes environmental pollution.</a:t>
            </a:r>
          </a:p>
          <a:p>
            <a:r>
              <a:rPr lang="en-US" sz="1800" dirty="0" smtClean="0">
                <a:latin typeface="Times New Roman" pitchFamily="18" charset="0"/>
                <a:cs typeface="Times New Roman" pitchFamily="18" charset="0"/>
              </a:rPr>
              <a:t>Therefore, the existing method is inefficient, labor-intensive, and does not ensure proper waste segregation.</a:t>
            </a:r>
          </a:p>
          <a:p>
            <a:r>
              <a:rPr lang="en-US" sz="1800" dirty="0" smtClean="0">
                <a:latin typeface="Times New Roman" pitchFamily="18" charset="0"/>
                <a:cs typeface="Times New Roman" pitchFamily="18" charset="0"/>
              </a:rPr>
              <a:t> the existing waste management system, garbage is collected manually from dustbins placed in public areas and residential locations. Traditional dustbins do not have any automatic monitoring system to check the garbage level. Due to this, the bins often overflow before they are cleaned, which leads to unhygienic conditions and environmental pollution.</a:t>
            </a:r>
          </a:p>
          <a:p>
            <a:r>
              <a:rPr lang="en-US" sz="1800" dirty="0" smtClean="0">
                <a:latin typeface="Times New Roman" pitchFamily="18" charset="0"/>
                <a:cs typeface="Times New Roman" pitchFamily="18" charset="0"/>
              </a:rPr>
              <a:t>In some basic smart systems, sensors such as ultrasonic sensors are used to detect the level of garbage in the dustbin. These systems send alerts when the bin is full. However, they do not perform proper waste segregation. As a result, wet waste, dry waste, and metal waste are mixed together, making recycling difficult.</a:t>
            </a:r>
          </a:p>
          <a:p>
            <a:r>
              <a:rPr lang="en-US" sz="1800" dirty="0" smtClean="0">
                <a:latin typeface="Times New Roman" pitchFamily="18" charset="0"/>
                <a:cs typeface="Times New Roman" pitchFamily="18" charset="0"/>
              </a:rPr>
              <a:t>The existing methods mainly focus on waste collection rather than waste segregation and real-time monitoring. These systems also require more manual effort and do not provide an efficient solution for smart waste management.</a:t>
            </a:r>
          </a:p>
          <a:p>
            <a:endParaRPr lang="en-US" sz="1800" dirty="0" smtClean="0">
              <a:latin typeface="Times New Roman" pitchFamily="18" charset="0"/>
              <a:cs typeface="Times New Roman" pitchFamily="18" charset="0"/>
            </a:endParaRPr>
          </a:p>
          <a:p>
            <a:pPr eaLnBrk="1" hangingPunct="1">
              <a:buFont typeface="Wingdings" pitchFamily="2" charset="2"/>
              <a:buChar char="q"/>
            </a:pPr>
            <a:endParaRPr lang="en-IN" sz="1800" dirty="0" smtClean="0">
              <a:solidFill>
                <a:srgbClr val="000000"/>
              </a:solidFill>
              <a:latin typeface="Times New Roman" pitchFamily="18" charset="0"/>
              <a:ea typeface="Microsoft Sans Serif" pitchFamily="34" charset="0"/>
              <a:cs typeface="Times New Roman" pitchFamily="18" charset="0"/>
            </a:endParaRPr>
          </a:p>
        </p:txBody>
      </p:sp>
      <p:sp>
        <p:nvSpPr>
          <p:cNvPr id="6" name="Title 5"/>
          <p:cNvSpPr>
            <a:spLocks noGrp="1"/>
          </p:cNvSpPr>
          <p:nvPr>
            <p:ph type="title"/>
          </p:nvPr>
        </p:nvSpPr>
        <p:spPr>
          <a:xfrm>
            <a:off x="1219200" y="234950"/>
            <a:ext cx="10363200" cy="1143000"/>
          </a:xfrm>
        </p:spPr>
        <p:txBody>
          <a:bodyPr>
            <a:normAutofit fontScale="90000"/>
          </a:bodyPr>
          <a:lstStyle/>
          <a:p>
            <a:pPr algn="ctr" eaLnBrk="1" hangingPunct="1"/>
            <a:r>
              <a:rPr lang="en-US" sz="3600" smtClean="0">
                <a:solidFill>
                  <a:srgbClr val="0E58C4"/>
                </a:solidFill>
                <a:latin typeface="Times New Roman" pitchFamily="18" charset="0"/>
                <a:ea typeface="Microsoft Sans Serif" pitchFamily="34" charset="0"/>
                <a:cs typeface="Times New Roman" pitchFamily="18" charset="0"/>
              </a:rPr>
              <a:t>Existing Method</a:t>
            </a:r>
            <a:r>
              <a:rPr lang="en-IN" sz="3600" smtClean="0">
                <a:solidFill>
                  <a:srgbClr val="0E58C4"/>
                </a:solidFill>
                <a:latin typeface="Times New Roman" pitchFamily="18" charset="0"/>
                <a:ea typeface="Microsoft Sans Serif" pitchFamily="34" charset="0"/>
                <a:cs typeface="Times New Roman" pitchFamily="18" charset="0"/>
              </a:rPr>
              <a:t/>
            </a:r>
            <a:br>
              <a:rPr lang="en-IN" sz="3600" smtClean="0">
                <a:solidFill>
                  <a:srgbClr val="0E58C4"/>
                </a:solidFill>
                <a:latin typeface="Times New Roman" pitchFamily="18" charset="0"/>
                <a:ea typeface="Microsoft Sans Serif" pitchFamily="34" charset="0"/>
                <a:cs typeface="Times New Roman" pitchFamily="18" charset="0"/>
              </a:rPr>
            </a:br>
            <a:endParaRPr lang="en-IN" sz="3600" smtClean="0">
              <a:solidFill>
                <a:srgbClr val="0E58C4"/>
              </a:solidFill>
              <a:latin typeface="Times New Roman" pitchFamily="18" charset="0"/>
              <a:ea typeface="Microsoft Sans Serif" pitchFamily="34" charset="0"/>
              <a:cs typeface="Times New Roman" pitchFamily="18" charset="0"/>
            </a:endParaRPr>
          </a:p>
        </p:txBody>
      </p:sp>
      <p:pic>
        <p:nvPicPr>
          <p:cNvPr id="21509" name="Picture 1"/>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1"/>
          <p:cNvSpPr>
            <a:spLocks noGrp="1" noChangeArrowheads="1"/>
          </p:cNvSpPr>
          <p:nvPr>
            <p:ph sz="quarter" idx="1"/>
          </p:nvPr>
        </p:nvSpPr>
        <p:spPr/>
        <p:txBody>
          <a:bodyPr/>
          <a:lstStyle/>
          <a:p>
            <a:r>
              <a:rPr lang="en-US" altLang="en-US" sz="2000" smtClean="0">
                <a:latin typeface="Times New Roman" pitchFamily="18" charset="0"/>
                <a:cs typeface="Times New Roman" pitchFamily="18" charset="0"/>
              </a:rPr>
              <a:t>The proposed system introduces a Smart Dustbin that automatically segregates dry and wet waste using sensors and a microcontroller. When waste is placed into the dustbin, a moisture sensor detects the presence of moisture in the waste. If moisture is detected, the waste is classified as wet waste; otherwise, it is considered dry waste.</a:t>
            </a:r>
          </a:p>
          <a:p>
            <a:r>
              <a:rPr lang="en-US" altLang="en-US" sz="2000" smtClean="0">
                <a:latin typeface="Times New Roman" pitchFamily="18" charset="0"/>
                <a:cs typeface="Times New Roman" pitchFamily="18" charset="0"/>
              </a:rPr>
              <a:t>Based on the sensor output, the microcontroller processes the data and controls a motor mechanism to direct the waste into the appropriate compartment. This automatic segregation reduces the need for manual handling and improves hygiene. The system operates efficiently with minimal human intervention.</a:t>
            </a:r>
          </a:p>
          <a:p>
            <a:r>
              <a:rPr lang="en-US" altLang="en-US" sz="2000" smtClean="0">
                <a:latin typeface="Times New Roman" pitchFamily="18" charset="0"/>
                <a:cs typeface="Times New Roman" pitchFamily="18" charset="0"/>
              </a:rPr>
              <a:t>The proposed method ensures proper waste segregation at the source, making recycling easier and reducing environmental pollution. It is cost-effective, reliable, and suitable for use in homes, schools, offices, and public places. This smart system supports modern waste management practices and contributes to a cleaner and healthier environme</a:t>
            </a:r>
            <a:r>
              <a:rPr lang="en-US" altLang="en-US" sz="2800" smtClean="0">
                <a:latin typeface="Times New Roman" pitchFamily="18" charset="0"/>
                <a:cs typeface="Times New Roman" pitchFamily="18" charset="0"/>
              </a:rPr>
              <a:t>nt.</a:t>
            </a:r>
          </a:p>
          <a:p>
            <a:endParaRPr lang="en-IN" altLang="en-US" smtClean="0"/>
          </a:p>
        </p:txBody>
      </p:sp>
      <p:sp>
        <p:nvSpPr>
          <p:cNvPr id="22531" name="Title 2"/>
          <p:cNvSpPr>
            <a:spLocks noGrp="1" noChangeArrowheads="1"/>
          </p:cNvSpPr>
          <p:nvPr>
            <p:ph type="title"/>
          </p:nvPr>
        </p:nvSpPr>
        <p:spPr>
          <a:xfrm>
            <a:off x="804863" y="373063"/>
            <a:ext cx="10363200" cy="1143000"/>
          </a:xfrm>
        </p:spPr>
        <p:txBody>
          <a:bodyPr/>
          <a:lstStyle/>
          <a:p>
            <a:pPr algn="ctr"/>
            <a:r>
              <a:rPr lang="en-US" altLang="en-US" smtClean="0">
                <a:solidFill>
                  <a:srgbClr val="0E58C4"/>
                </a:solidFill>
                <a:latin typeface="Times New Roman" pitchFamily="18" charset="0"/>
                <a:ea typeface="Microsoft Sans Serif" pitchFamily="34" charset="0"/>
                <a:cs typeface="Times New Roman" pitchFamily="18" charset="0"/>
              </a:rPr>
              <a:t>Proposed Method</a:t>
            </a:r>
            <a:endParaRPr lang="en-IN" altLang="en-US" smtClean="0">
              <a:ea typeface="Microsoft Sans Serif" pitchFamily="34" charset="0"/>
              <a:cs typeface="Times New Roman" pitchFamily="18" charset="0"/>
            </a:endParaRPr>
          </a:p>
        </p:txBody>
      </p:sp>
      <p:sp>
        <p:nvSpPr>
          <p:cNvPr id="6" name="Slide Number Placeholder 5"/>
          <p:cNvSpPr>
            <a:spLocks noGrp="1"/>
          </p:cNvSpPr>
          <p:nvPr>
            <p:ph type="sldNum" sz="quarter" idx="12"/>
          </p:nvPr>
        </p:nvSpPr>
        <p:spPr/>
        <p:txBody>
          <a:bodyPr/>
          <a:lstStyle/>
          <a:p>
            <a:fld id="{599A6B73-7371-4390-A58F-38B57D356266}" type="slidenum">
              <a:rPr lang="en-US" altLang="en-US"/>
              <a:pPr/>
              <a:t>10</a:t>
            </a:fld>
            <a:endParaRPr lang="en-US" altLang="en-US"/>
          </a:p>
        </p:txBody>
      </p:sp>
      <p:pic>
        <p:nvPicPr>
          <p:cNvPr id="22533" name="Picture 1"/>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E3F1A28-1812-4B79-BDEA-806B2EB3F91B}" type="slidenum">
              <a:rPr lang="en-US" altLang="en-US"/>
              <a:pPr/>
              <a:t>11</a:t>
            </a:fld>
            <a:endParaRPr lang="en-US" altLang="en-US"/>
          </a:p>
        </p:txBody>
      </p:sp>
      <p:sp>
        <p:nvSpPr>
          <p:cNvPr id="6" name="Title 5"/>
          <p:cNvSpPr>
            <a:spLocks noGrp="1"/>
          </p:cNvSpPr>
          <p:nvPr>
            <p:ph type="title"/>
          </p:nvPr>
        </p:nvSpPr>
        <p:spPr>
          <a:xfrm>
            <a:off x="804863" y="298450"/>
            <a:ext cx="10363200" cy="1033463"/>
          </a:xfrm>
        </p:spPr>
        <p:txBody>
          <a:bodyPr>
            <a:normAutofit fontScale="90000"/>
          </a:bodyPr>
          <a:lstStyle/>
          <a:p>
            <a:pPr algn="ctr" eaLnBrk="1" hangingPunct="1"/>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3600" smtClean="0">
                <a:solidFill>
                  <a:srgbClr val="0E58C4"/>
                </a:solidFill>
                <a:latin typeface="Times New Roman" pitchFamily="18" charset="0"/>
                <a:ea typeface="Microsoft Sans Serif" pitchFamily="34" charset="0"/>
                <a:cs typeface="Times New Roman" pitchFamily="18" charset="0"/>
              </a:rPr>
              <a:t/>
            </a:r>
            <a:br>
              <a:rPr lang="en-US" sz="36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z="2400" smtClean="0">
                <a:solidFill>
                  <a:srgbClr val="0E58C4"/>
                </a:solidFill>
                <a:latin typeface="Times New Roman" pitchFamily="18" charset="0"/>
                <a:ea typeface="Microsoft Sans Serif" pitchFamily="34" charset="0"/>
                <a:cs typeface="Times New Roman" pitchFamily="18" charset="0"/>
              </a:rPr>
              <a:t/>
            </a:r>
            <a:br>
              <a:rPr lang="en-US" sz="2400" smtClean="0">
                <a:solidFill>
                  <a:srgbClr val="0E58C4"/>
                </a:solidFill>
                <a:latin typeface="Times New Roman" pitchFamily="18" charset="0"/>
                <a:ea typeface="Microsoft Sans Serif" pitchFamily="34" charset="0"/>
                <a:cs typeface="Times New Roman" pitchFamily="18" charset="0"/>
              </a:rPr>
            </a:br>
            <a:r>
              <a:rPr lang="en-US" smtClean="0">
                <a:solidFill>
                  <a:srgbClr val="0E58C4"/>
                </a:solidFill>
                <a:latin typeface="Times New Roman" pitchFamily="18" charset="0"/>
                <a:ea typeface="Microsoft Sans Serif" pitchFamily="34" charset="0"/>
                <a:cs typeface="Times New Roman" pitchFamily="18" charset="0"/>
              </a:rPr>
              <a:t>Block diagram</a:t>
            </a:r>
            <a:endParaRPr lang="en-IN" smtClean="0">
              <a:solidFill>
                <a:srgbClr val="0E58C4"/>
              </a:solidFill>
              <a:latin typeface="Times New Roman" pitchFamily="18" charset="0"/>
              <a:ea typeface="Microsoft Sans Serif" pitchFamily="34" charset="0"/>
              <a:cs typeface="Times New Roman" pitchFamily="18" charset="0"/>
            </a:endParaRPr>
          </a:p>
        </p:txBody>
      </p:sp>
      <p:sp>
        <p:nvSpPr>
          <p:cNvPr id="23556" name="Content Placeholder 2"/>
          <p:cNvSpPr txBox="1">
            <a:spLocks noChangeArrowheads="1"/>
          </p:cNvSpPr>
          <p:nvPr/>
        </p:nvSpPr>
        <p:spPr bwMode="auto">
          <a:xfrm>
            <a:off x="1411288" y="1492250"/>
            <a:ext cx="10363200" cy="4572000"/>
          </a:xfrm>
          <a:prstGeom prst="rect">
            <a:avLst/>
          </a:prstGeom>
          <a:noFill/>
          <a:ln w="9525">
            <a:noFill/>
            <a:miter lim="800000"/>
            <a:headEnd/>
            <a:tailEnd/>
          </a:ln>
        </p:spPr>
        <p:txBody>
          <a:bodyPr/>
          <a:lstStyle/>
          <a:p>
            <a:pPr marL="273050" indent="-457200" eaLnBrk="1" hangingPunct="1">
              <a:spcBef>
                <a:spcPts val="575"/>
              </a:spcBef>
              <a:buClr>
                <a:schemeClr val="accent1"/>
              </a:buClr>
              <a:buSzPct val="85000"/>
              <a:buFont typeface="Wingdings" pitchFamily="2" charset="2"/>
              <a:buChar char="q"/>
            </a:pPr>
            <a:endParaRPr lang="en-IN" altLang="en-US">
              <a:solidFill>
                <a:srgbClr val="000000"/>
              </a:solidFill>
              <a:latin typeface="Times New Roman" pitchFamily="18" charset="0"/>
              <a:ea typeface="Microsoft Sans Serif" pitchFamily="34" charset="0"/>
              <a:cs typeface="Times New Roman" pitchFamily="18" charset="0"/>
            </a:endParaRPr>
          </a:p>
          <a:p>
            <a:pPr marL="273050" indent="-457200" eaLnBrk="1" hangingPunct="1">
              <a:spcBef>
                <a:spcPts val="575"/>
              </a:spcBef>
              <a:buClr>
                <a:schemeClr val="accent1"/>
              </a:buClr>
              <a:buSzPct val="85000"/>
              <a:buFont typeface="Wingdings 2" pitchFamily="18" charset="2"/>
              <a:buNone/>
            </a:pPr>
            <a:endParaRPr lang="en-IN" altLang="en-US" b="1">
              <a:solidFill>
                <a:srgbClr val="C00000"/>
              </a:solidFill>
              <a:latin typeface="Times New Roman" pitchFamily="18" charset="0"/>
              <a:ea typeface="Microsoft Sans Serif" pitchFamily="34" charset="0"/>
              <a:cs typeface="Times New Roman" pitchFamily="18" charset="0"/>
            </a:endParaRPr>
          </a:p>
        </p:txBody>
      </p:sp>
      <p:pic>
        <p:nvPicPr>
          <p:cNvPr id="23557" name="Picture 1"/>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pic>
        <p:nvPicPr>
          <p:cNvPr id="23558" name="Picture 2"/>
          <p:cNvPicPr>
            <a:picLocks noChangeAspect="1" noChangeArrowheads="1"/>
          </p:cNvPicPr>
          <p:nvPr/>
        </p:nvPicPr>
        <p:blipFill>
          <a:blip r:embed="rId2"/>
          <a:srcRect/>
          <a:stretch>
            <a:fillRect/>
          </a:stretch>
        </p:blipFill>
        <p:spPr bwMode="auto">
          <a:xfrm>
            <a:off x="11072813" y="311150"/>
            <a:ext cx="981075" cy="838200"/>
          </a:xfrm>
          <a:prstGeom prst="rect">
            <a:avLst/>
          </a:prstGeom>
          <a:noFill/>
          <a:ln w="9525">
            <a:noFill/>
            <a:miter lim="800000"/>
            <a:headEnd/>
            <a:tailEnd/>
          </a:ln>
        </p:spPr>
      </p:pic>
      <p:sp>
        <p:nvSpPr>
          <p:cNvPr id="2" name="Rectangle: Rounded Corners 1"/>
          <p:cNvSpPr/>
          <p:nvPr/>
        </p:nvSpPr>
        <p:spPr>
          <a:xfrm>
            <a:off x="2330450" y="1868488"/>
            <a:ext cx="1454150" cy="914400"/>
          </a:xfrm>
          <a:prstGeom prst="roundRect">
            <a:avLst/>
          </a:prstGeom>
        </p:spPr>
        <p:style>
          <a:lnRef idx="3">
            <a:schemeClr val="lt1"/>
          </a:lnRef>
          <a:fillRef idx="1">
            <a:schemeClr val="accent2"/>
          </a:fillRef>
          <a:effectRef idx="1">
            <a:schemeClr val="accent2"/>
          </a:effectRef>
          <a:fontRef idx="minor">
            <a:schemeClr val="lt1"/>
          </a:fontRef>
        </p:style>
        <p:txBody>
          <a:bodyPr anchor="ctr"/>
          <a:lstStyle/>
          <a:p>
            <a:pPr algn="ctr"/>
            <a:r>
              <a:rPr lang="en-IN">
                <a:solidFill>
                  <a:srgbClr val="FFFFFF"/>
                </a:solidFill>
              </a:rPr>
              <a:t>Power Supply</a:t>
            </a:r>
          </a:p>
          <a:p>
            <a:pPr algn="ctr"/>
            <a:endParaRPr lang="en-IN">
              <a:solidFill>
                <a:srgbClr val="FFFFFF"/>
              </a:solidFill>
            </a:endParaRPr>
          </a:p>
        </p:txBody>
      </p:sp>
      <p:sp>
        <p:nvSpPr>
          <p:cNvPr id="3" name="Rectangle: Rounded Corners 2"/>
          <p:cNvSpPr/>
          <p:nvPr/>
        </p:nvSpPr>
        <p:spPr>
          <a:xfrm>
            <a:off x="4527550" y="1868488"/>
            <a:ext cx="1458913" cy="914400"/>
          </a:xfrm>
          <a:prstGeom prst="round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IN"/>
              <a:t>IR Sensor </a:t>
            </a:r>
            <a:endParaRPr lang="en-IN" dirty="0"/>
          </a:p>
        </p:txBody>
      </p:sp>
      <p:sp>
        <p:nvSpPr>
          <p:cNvPr id="5" name="Rectangle: Rounded Corners 4"/>
          <p:cNvSpPr/>
          <p:nvPr/>
        </p:nvSpPr>
        <p:spPr>
          <a:xfrm>
            <a:off x="6794500" y="1868488"/>
            <a:ext cx="1458913" cy="914400"/>
          </a:xfrm>
          <a:prstGeom prst="round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IN" dirty="0"/>
              <a:t>Moisture</a:t>
            </a:r>
          </a:p>
          <a:p>
            <a:pPr algn="ctr">
              <a:defRPr/>
            </a:pPr>
            <a:r>
              <a:rPr lang="en-IN" dirty="0"/>
              <a:t>Sensor </a:t>
            </a:r>
          </a:p>
        </p:txBody>
      </p:sp>
      <p:sp>
        <p:nvSpPr>
          <p:cNvPr id="7" name="Rectangle: Rounded Corners 6"/>
          <p:cNvSpPr/>
          <p:nvPr/>
        </p:nvSpPr>
        <p:spPr>
          <a:xfrm>
            <a:off x="3784600" y="3387725"/>
            <a:ext cx="2405063" cy="914400"/>
          </a:xfrm>
          <a:prstGeom prst="roundRect">
            <a:avLst>
              <a:gd name="adj" fmla="val 14445"/>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IN" dirty="0"/>
              <a:t>Microcontroller       </a:t>
            </a:r>
          </a:p>
          <a:p>
            <a:pPr algn="ctr">
              <a:defRPr/>
            </a:pPr>
            <a:r>
              <a:rPr lang="en-IN" dirty="0"/>
              <a:t>                                              (Arduino UNO</a:t>
            </a:r>
          </a:p>
        </p:txBody>
      </p:sp>
      <p:sp>
        <p:nvSpPr>
          <p:cNvPr id="8" name="Rectangle: Rounded Corners 7"/>
          <p:cNvSpPr/>
          <p:nvPr/>
        </p:nvSpPr>
        <p:spPr>
          <a:xfrm>
            <a:off x="3775075" y="4752975"/>
            <a:ext cx="2405063" cy="914400"/>
          </a:xfrm>
          <a:prstGeom prst="round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IN" dirty="0"/>
              <a:t>Servo Motor </a:t>
            </a:r>
          </a:p>
        </p:txBody>
      </p:sp>
      <p:sp>
        <p:nvSpPr>
          <p:cNvPr id="10" name="Rectangle: Rounded Corners 9"/>
          <p:cNvSpPr/>
          <p:nvPr/>
        </p:nvSpPr>
        <p:spPr>
          <a:xfrm>
            <a:off x="2235200" y="5826125"/>
            <a:ext cx="1793875" cy="914400"/>
          </a:xfrm>
          <a:prstGeom prst="roundRect">
            <a:avLst/>
          </a:prstGeom>
        </p:spPr>
        <p:style>
          <a:lnRef idx="3">
            <a:schemeClr val="lt1"/>
          </a:lnRef>
          <a:fillRef idx="1">
            <a:schemeClr val="accent2"/>
          </a:fillRef>
          <a:effectRef idx="1">
            <a:schemeClr val="accent2"/>
          </a:effectRef>
          <a:fontRef idx="minor">
            <a:schemeClr val="lt1"/>
          </a:fontRef>
        </p:style>
        <p:txBody>
          <a:bodyPr anchor="ctr"/>
          <a:lstStyle/>
          <a:p>
            <a:pPr algn="ctr"/>
            <a:r>
              <a:rPr lang="en-IN">
                <a:solidFill>
                  <a:srgbClr val="FFFFFF"/>
                </a:solidFill>
              </a:rPr>
              <a:t>Wet Waste Bin </a:t>
            </a:r>
          </a:p>
          <a:p>
            <a:pPr algn="ctr"/>
            <a:endParaRPr lang="en-IN">
              <a:solidFill>
                <a:srgbClr val="FFFFFF"/>
              </a:solidFill>
            </a:endParaRPr>
          </a:p>
        </p:txBody>
      </p:sp>
      <p:sp>
        <p:nvSpPr>
          <p:cNvPr id="11" name="Rectangle: Rounded Corners 10"/>
          <p:cNvSpPr/>
          <p:nvPr/>
        </p:nvSpPr>
        <p:spPr>
          <a:xfrm>
            <a:off x="6273800" y="5826125"/>
            <a:ext cx="1793875" cy="914400"/>
          </a:xfrm>
          <a:prstGeom prst="roundRect">
            <a:avLst/>
          </a:prstGeom>
        </p:spPr>
        <p:style>
          <a:lnRef idx="3">
            <a:schemeClr val="lt1"/>
          </a:lnRef>
          <a:fillRef idx="1">
            <a:schemeClr val="accent2"/>
          </a:fillRef>
          <a:effectRef idx="1">
            <a:schemeClr val="accent2"/>
          </a:effectRef>
          <a:fontRef idx="minor">
            <a:schemeClr val="lt1"/>
          </a:fontRef>
        </p:style>
        <p:txBody>
          <a:bodyPr anchor="ctr"/>
          <a:lstStyle/>
          <a:p>
            <a:pPr algn="ctr"/>
            <a:r>
              <a:rPr lang="en-IN">
                <a:solidFill>
                  <a:srgbClr val="FFFFFF"/>
                </a:solidFill>
              </a:rPr>
              <a:t>Dry Waste Bin</a:t>
            </a:r>
          </a:p>
          <a:p>
            <a:pPr algn="ctr"/>
            <a:endParaRPr lang="en-IN">
              <a:solidFill>
                <a:srgbClr val="FFFFFF"/>
              </a:solidFill>
            </a:endParaRPr>
          </a:p>
        </p:txBody>
      </p:sp>
      <p:sp>
        <p:nvSpPr>
          <p:cNvPr id="9" name="Arrow: Right 8"/>
          <p:cNvSpPr/>
          <p:nvPr/>
        </p:nvSpPr>
        <p:spPr>
          <a:xfrm>
            <a:off x="3784600" y="2227263"/>
            <a:ext cx="739775" cy="323850"/>
          </a:xfrm>
          <a:prstGeom prst="rightArrow">
            <a:avLst/>
          </a:prstGeom>
        </p:spPr>
        <p:style>
          <a:lnRef idx="3">
            <a:schemeClr val="lt1"/>
          </a:lnRef>
          <a:fillRef idx="1">
            <a:schemeClr val="accent2"/>
          </a:fillRef>
          <a:effectRef idx="1">
            <a:schemeClr val="accent2"/>
          </a:effectRef>
          <a:fontRef idx="minor">
            <a:schemeClr val="lt1"/>
          </a:fontRef>
        </p:style>
        <p:txBody>
          <a:bodyPr anchor="ctr"/>
          <a:lstStyle/>
          <a:p>
            <a:pPr algn="ctr"/>
            <a:endParaRPr lang="en-IN">
              <a:solidFill>
                <a:srgbClr val="FFFFFF"/>
              </a:solidFill>
            </a:endParaRPr>
          </a:p>
        </p:txBody>
      </p:sp>
      <p:sp>
        <p:nvSpPr>
          <p:cNvPr id="12" name="Arrow: Right 11"/>
          <p:cNvSpPr/>
          <p:nvPr/>
        </p:nvSpPr>
        <p:spPr>
          <a:xfrm>
            <a:off x="5986463" y="2227263"/>
            <a:ext cx="808037" cy="323850"/>
          </a:xfrm>
          <a:prstGeom prst="rightArrow">
            <a:avLst/>
          </a:prstGeom>
        </p:spPr>
        <p:style>
          <a:lnRef idx="3">
            <a:schemeClr val="lt1"/>
          </a:lnRef>
          <a:fillRef idx="1">
            <a:schemeClr val="accent2"/>
          </a:fillRef>
          <a:effectRef idx="1">
            <a:schemeClr val="accent2"/>
          </a:effectRef>
          <a:fontRef idx="minor">
            <a:schemeClr val="lt1"/>
          </a:fontRef>
        </p:style>
        <p:txBody>
          <a:bodyPr anchor="ctr"/>
          <a:lstStyle/>
          <a:p>
            <a:pPr algn="ctr"/>
            <a:endParaRPr lang="en-IN">
              <a:solidFill>
                <a:srgbClr val="FFFFFF"/>
              </a:solidFill>
            </a:endParaRPr>
          </a:p>
        </p:txBody>
      </p:sp>
      <p:sp>
        <p:nvSpPr>
          <p:cNvPr id="13" name="Arrow: Down 12"/>
          <p:cNvSpPr/>
          <p:nvPr/>
        </p:nvSpPr>
        <p:spPr>
          <a:xfrm>
            <a:off x="4986338" y="2854325"/>
            <a:ext cx="366712" cy="528638"/>
          </a:xfrm>
          <a:prstGeom prst="downArrow">
            <a:avLst/>
          </a:prstGeom>
        </p:spPr>
        <p:style>
          <a:lnRef idx="3">
            <a:schemeClr val="lt1"/>
          </a:lnRef>
          <a:fillRef idx="1">
            <a:schemeClr val="accent2"/>
          </a:fillRef>
          <a:effectRef idx="1">
            <a:schemeClr val="accent2"/>
          </a:effectRef>
          <a:fontRef idx="minor">
            <a:schemeClr val="lt1"/>
          </a:fontRef>
        </p:style>
        <p:txBody>
          <a:bodyPr anchor="ctr"/>
          <a:lstStyle/>
          <a:p>
            <a:pPr algn="ctr"/>
            <a:endParaRPr lang="en-IN">
              <a:solidFill>
                <a:srgbClr val="FFFFFF"/>
              </a:solidFill>
            </a:endParaRPr>
          </a:p>
        </p:txBody>
      </p:sp>
      <p:sp>
        <p:nvSpPr>
          <p:cNvPr id="14" name="Arrow: Down 13"/>
          <p:cNvSpPr/>
          <p:nvPr/>
        </p:nvSpPr>
        <p:spPr>
          <a:xfrm>
            <a:off x="4978400" y="4300538"/>
            <a:ext cx="339725" cy="454025"/>
          </a:xfrm>
          <a:prstGeom prst="downArrow">
            <a:avLst/>
          </a:prstGeom>
        </p:spPr>
        <p:style>
          <a:lnRef idx="3">
            <a:schemeClr val="lt1"/>
          </a:lnRef>
          <a:fillRef idx="1">
            <a:schemeClr val="accent2"/>
          </a:fillRef>
          <a:effectRef idx="1">
            <a:schemeClr val="accent2"/>
          </a:effectRef>
          <a:fontRef idx="minor">
            <a:schemeClr val="lt1"/>
          </a:fontRef>
        </p:style>
        <p:txBody>
          <a:bodyPr anchor="ctr"/>
          <a:lstStyle/>
          <a:p>
            <a:pPr algn="ctr"/>
            <a:endParaRPr lang="en-IN">
              <a:solidFill>
                <a:srgbClr val="FFFFFF"/>
              </a:solidFill>
            </a:endParaRPr>
          </a:p>
        </p:txBody>
      </p:sp>
      <p:cxnSp>
        <p:nvCxnSpPr>
          <p:cNvPr id="16" name="Straight Arrow Connector 15"/>
          <p:cNvCxnSpPr>
            <a:cxnSpLocks/>
            <a:endCxn id="10" idx="0"/>
          </p:cNvCxnSpPr>
          <p:nvPr/>
        </p:nvCxnSpPr>
        <p:spPr>
          <a:xfrm>
            <a:off x="3132138" y="5667375"/>
            <a:ext cx="0" cy="158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cxnSpLocks/>
          </p:cNvCxnSpPr>
          <p:nvPr/>
        </p:nvCxnSpPr>
        <p:spPr>
          <a:xfrm flipH="1">
            <a:off x="7170738" y="5605463"/>
            <a:ext cx="0" cy="220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132138" y="5667375"/>
            <a:ext cx="10985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5986463" y="5667375"/>
            <a:ext cx="118427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FCB4E5-9668-4611-A919-ED555CC4731E}" type="slidenum">
              <a:rPr lang="en-US" altLang="en-US"/>
              <a:pPr/>
              <a:t>12</a:t>
            </a:fld>
            <a:endParaRPr lang="en-US" altLang="en-US"/>
          </a:p>
        </p:txBody>
      </p:sp>
      <p:sp>
        <p:nvSpPr>
          <p:cNvPr id="6" name="Title 5"/>
          <p:cNvSpPr>
            <a:spLocks noGrp="1"/>
          </p:cNvSpPr>
          <p:nvPr>
            <p:ph type="title"/>
          </p:nvPr>
        </p:nvSpPr>
        <p:spPr>
          <a:xfrm>
            <a:off x="1219200" y="384175"/>
            <a:ext cx="10363200" cy="1033463"/>
          </a:xfrm>
        </p:spPr>
        <p:txBody>
          <a:bodyPr>
            <a:normAutofit fontScale="90000"/>
          </a:bodyPr>
          <a:lstStyle/>
          <a:p>
            <a:pPr algn="ctr" eaLnBrk="1" hangingPunct="1"/>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IN" sz="3100" dirty="0" smtClean="0">
                <a:solidFill>
                  <a:srgbClr val="0E58C4"/>
                </a:solidFill>
                <a:latin typeface="Times New Roman" pitchFamily="18" charset="0"/>
                <a:ea typeface="Microsoft Sans Serif" pitchFamily="34" charset="0"/>
                <a:cs typeface="Times New Roman" pitchFamily="18" charset="0"/>
              </a:rPr>
              <a:t>Explanation of Proposed Work</a:t>
            </a:r>
          </a:p>
        </p:txBody>
      </p:sp>
      <p:sp>
        <p:nvSpPr>
          <p:cNvPr id="9" name="Content Placeholder 2"/>
          <p:cNvSpPr txBox="1">
            <a:spLocks/>
          </p:cNvSpPr>
          <p:nvPr/>
        </p:nvSpPr>
        <p:spPr>
          <a:xfrm>
            <a:off x="1371600" y="1600200"/>
            <a:ext cx="10363200" cy="4572000"/>
          </a:xfrm>
          <a:prstGeom prst="rect">
            <a:avLst/>
          </a:prstGeom>
        </p:spPr>
        <p:txBody>
          <a:bodyPr>
            <a:normAutofit/>
          </a:bodyPr>
          <a:lstStyle/>
          <a:p>
            <a:pPr marL="273050" indent="-273050" eaLnBrk="1" hangingPunct="1">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The proposed work focuses on designing and implementing a Smart Dustbin that automatically segregates dry and wet waste using sensors and a microcontroller. The main aim is to reduce manual effort and improve hygiene in waste management.</a:t>
            </a:r>
          </a:p>
          <a:p>
            <a:pPr marL="273050" indent="-273050" eaLnBrk="1" hangingPunct="1">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In this system, when a user throws waste into the dustbin, an IR sensor first detects the presence of waste and activates the system. The waste then comes in contact with a moisture sensor, which checks the moisture content. If moisture is detected, the waste is identified as wet waste; if no moisture is detected, it is classified as dry waste.</a:t>
            </a:r>
          </a:p>
          <a:p>
            <a:pPr marL="273050" indent="-273050" eaLnBrk="1" hangingPunct="1">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The sensor data is sent to the microcontroller, which processes the input and gives control signals to a servo motor. Based on these signals, the servo motor rotates in a particular direction and guides the waste into the corresponding bin—either the wet waste bin or the dry waste bin.</a:t>
            </a:r>
          </a:p>
          <a:p>
            <a:pPr marL="273050" indent="-273050" eaLnBrk="1" hangingPunct="1">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The entire operation is automatic and requires minimal human intervention. This proposed system ensures proper segregation at the source, improves cleanliness, supports recycling, and reduces environmental pollution. The smart dustbin can be effectively used in homes, schools, offices, and public places.</a:t>
            </a:r>
          </a:p>
          <a:p>
            <a:pPr marL="273050" indent="-273050" eaLnBrk="1" hangingPunct="1">
              <a:spcBef>
                <a:spcPts val="575"/>
              </a:spcBef>
              <a:buClr>
                <a:schemeClr val="accent1"/>
              </a:buClr>
              <a:buSzPct val="85000"/>
              <a:buFont typeface="Wingdings" pitchFamily="2" charset="2"/>
              <a:buChar char="q"/>
            </a:pPr>
            <a:r>
              <a:rPr lang="en-IN" dirty="0">
                <a:solidFill>
                  <a:srgbClr val="000000"/>
                </a:solidFill>
                <a:latin typeface="Times New Roman" pitchFamily="18" charset="0"/>
                <a:ea typeface="Microsoft Sans Serif" pitchFamily="34" charset="0"/>
                <a:cs typeface="Times New Roman" pitchFamily="18" charset="0"/>
              </a:rPr>
              <a:t> </a:t>
            </a:r>
          </a:p>
          <a:p>
            <a:pPr marL="273050" indent="-273050" eaLnBrk="1" hangingPunct="1">
              <a:spcBef>
                <a:spcPts val="575"/>
              </a:spcBef>
              <a:buClr>
                <a:schemeClr val="accent1"/>
              </a:buClr>
              <a:buSzPct val="85000"/>
              <a:buFont typeface="Wingdings 2" pitchFamily="18" charset="2"/>
              <a:buNone/>
            </a:pPr>
            <a:endParaRPr lang="en-IN" b="1" dirty="0">
              <a:solidFill>
                <a:srgbClr val="C00000"/>
              </a:solidFill>
              <a:latin typeface="Times New Roman" pitchFamily="18" charset="0"/>
              <a:cs typeface="Times New Roman" pitchFamily="18" charset="0"/>
            </a:endParaRPr>
          </a:p>
        </p:txBody>
      </p:sp>
      <p:pic>
        <p:nvPicPr>
          <p:cNvPr id="24581" name="Picture 1"/>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9ADEF90-360A-4B21-A2FA-BC8085B52757}" type="slidenum">
              <a:rPr lang="en-US" altLang="en-US"/>
              <a:pPr/>
              <a:t>13</a:t>
            </a:fld>
            <a:endParaRPr lang="en-US" altLang="en-US"/>
          </a:p>
        </p:txBody>
      </p:sp>
      <p:sp>
        <p:nvSpPr>
          <p:cNvPr id="6" name="Title 5"/>
          <p:cNvSpPr>
            <a:spLocks noGrp="1"/>
          </p:cNvSpPr>
          <p:nvPr>
            <p:ph type="title"/>
          </p:nvPr>
        </p:nvSpPr>
        <p:spPr>
          <a:xfrm>
            <a:off x="1219200" y="305798"/>
            <a:ext cx="10363200" cy="869859"/>
          </a:xfrm>
        </p:spPr>
        <p:txBody>
          <a:bodyPr>
            <a:normAutofit fontScale="90000"/>
          </a:bodyPr>
          <a:lstStyle/>
          <a:p>
            <a:pPr algn="ctr" eaLnBrk="1" hangingPunct="1"/>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IN" sz="3200" dirty="0" smtClean="0">
                <a:solidFill>
                  <a:srgbClr val="0E58C4"/>
                </a:solidFill>
                <a:latin typeface="Times New Roman" pitchFamily="18" charset="0"/>
                <a:ea typeface="Microsoft Sans Serif" pitchFamily="34" charset="0"/>
                <a:cs typeface="Times New Roman" pitchFamily="18" charset="0"/>
              </a:rPr>
              <a:t>Explanation of Proposed Work</a:t>
            </a:r>
            <a:endParaRPr lang="en-IN" sz="3600" dirty="0" smtClean="0">
              <a:solidFill>
                <a:srgbClr val="0E58C4"/>
              </a:solidFill>
              <a:latin typeface="Times New Roman" pitchFamily="18" charset="0"/>
              <a:ea typeface="Microsoft Sans Serif" pitchFamily="34" charset="0"/>
              <a:cs typeface="Times New Roman" pitchFamily="18" charset="0"/>
            </a:endParaRPr>
          </a:p>
        </p:txBody>
      </p:sp>
      <p:sp>
        <p:nvSpPr>
          <p:cNvPr id="9" name="Content Placeholder 2"/>
          <p:cNvSpPr txBox="1">
            <a:spLocks/>
          </p:cNvSpPr>
          <p:nvPr/>
        </p:nvSpPr>
        <p:spPr>
          <a:xfrm>
            <a:off x="676774" y="1423851"/>
            <a:ext cx="10947400" cy="5865722"/>
          </a:xfrm>
          <a:prstGeom prst="rect">
            <a:avLst/>
          </a:prstGeom>
        </p:spPr>
        <p:txBody>
          <a:bodyPr>
            <a:noAutofit/>
          </a:bodyPr>
          <a:lstStyle/>
          <a:p>
            <a:pPr marL="273050" indent="-273050" eaLnBrk="1" hangingPunct="1">
              <a:lnSpc>
                <a:spcPct val="80000"/>
              </a:lnSpc>
              <a:spcBef>
                <a:spcPts val="575"/>
              </a:spcBef>
              <a:buClr>
                <a:schemeClr val="accent1"/>
              </a:buClr>
              <a:buSzPct val="85000"/>
              <a:buFont typeface="Wingdings 2" pitchFamily="18" charset="2"/>
              <a:buChar char=""/>
            </a:pPr>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existing waste management systems, garbage is mostly collected manually without proper monitoring. Traditional dustbins do not provide information about their fill level. This leads to:</a:t>
            </a:r>
          </a:p>
          <a:p>
            <a:pPr marL="273050" indent="-273050" eaLnBrk="1" hangingPunct="1">
              <a:lnSpc>
                <a:spcPct val="80000"/>
              </a:lnSpc>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Overflow of garbage bins</a:t>
            </a:r>
          </a:p>
          <a:p>
            <a:pPr marL="273050" indent="-273050" eaLnBrk="1" hangingPunct="1">
              <a:lnSpc>
                <a:spcPct val="80000"/>
              </a:lnSpc>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Bad smell and unhygienic conditions</a:t>
            </a:r>
          </a:p>
          <a:p>
            <a:pPr marL="273050" indent="-273050" eaLnBrk="1" hangingPunct="1">
              <a:lnSpc>
                <a:spcPct val="80000"/>
              </a:lnSpc>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Spread of diseases</a:t>
            </a:r>
          </a:p>
          <a:p>
            <a:pPr marL="273050" indent="-273050" eaLnBrk="1" hangingPunct="1">
              <a:lnSpc>
                <a:spcPct val="80000"/>
              </a:lnSpc>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Increased manual labor</a:t>
            </a:r>
          </a:p>
          <a:p>
            <a:pPr marL="273050" indent="-273050" eaLnBrk="1" hangingPunct="1">
              <a:lnSpc>
                <a:spcPct val="80000"/>
              </a:lnSpc>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Some existing smart systems use </a:t>
            </a:r>
            <a:r>
              <a:rPr lang="en-US" b="1" dirty="0">
                <a:latin typeface="Times New Roman" pitchFamily="18" charset="0"/>
                <a:cs typeface="Times New Roman" pitchFamily="18" charset="0"/>
              </a:rPr>
              <a:t>ultrasonic sensors</a:t>
            </a:r>
            <a:r>
              <a:rPr lang="en-US" dirty="0">
                <a:latin typeface="Times New Roman" pitchFamily="18" charset="0"/>
                <a:cs typeface="Times New Roman" pitchFamily="18" charset="0"/>
              </a:rPr>
              <a:t> to detect garbage level and send alerts using GSM or </a:t>
            </a:r>
            <a:r>
              <a:rPr lang="en-US" dirty="0" err="1">
                <a:latin typeface="Times New Roman" pitchFamily="18" charset="0"/>
                <a:cs typeface="Times New Roman" pitchFamily="18" charset="0"/>
              </a:rPr>
              <a:t>WiFi</a:t>
            </a:r>
            <a:r>
              <a:rPr lang="en-US" dirty="0">
                <a:latin typeface="Times New Roman" pitchFamily="18" charset="0"/>
                <a:cs typeface="Times New Roman" pitchFamily="18" charset="0"/>
              </a:rPr>
              <a:t> modules. Other systems use </a:t>
            </a:r>
            <a:r>
              <a:rPr lang="en-US" b="1" dirty="0">
                <a:latin typeface="Times New Roman" pitchFamily="18" charset="0"/>
                <a:cs typeface="Times New Roman" pitchFamily="18" charset="0"/>
              </a:rPr>
              <a:t>moisture sensors and metal detectors</a:t>
            </a:r>
            <a:r>
              <a:rPr lang="en-US" dirty="0">
                <a:latin typeface="Times New Roman" pitchFamily="18" charset="0"/>
                <a:cs typeface="Times New Roman" pitchFamily="18" charset="0"/>
              </a:rPr>
              <a:t> for basic waste segregation.</a:t>
            </a:r>
          </a:p>
          <a:p>
            <a:pPr marL="273050" indent="-273050" eaLnBrk="1" hangingPunct="1">
              <a:lnSpc>
                <a:spcPct val="80000"/>
              </a:lnSpc>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However, these systems have some limitations:</a:t>
            </a:r>
          </a:p>
          <a:p>
            <a:pPr marL="273050" indent="-273050" eaLnBrk="1" hangingPunct="1">
              <a:lnSpc>
                <a:spcPct val="80000"/>
              </a:lnSpc>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No proper automatic segregation in all systems</a:t>
            </a:r>
          </a:p>
          <a:p>
            <a:pPr marL="273050" indent="-273050" eaLnBrk="1" hangingPunct="1">
              <a:lnSpc>
                <a:spcPct val="80000"/>
              </a:lnSpc>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High cost of implementation</a:t>
            </a:r>
          </a:p>
          <a:p>
            <a:pPr marL="273050" indent="-273050" eaLnBrk="1" hangingPunct="1">
              <a:lnSpc>
                <a:spcPct val="80000"/>
              </a:lnSpc>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Dependence on internet connection</a:t>
            </a:r>
          </a:p>
          <a:p>
            <a:pPr marL="273050" indent="-273050" eaLnBrk="1" hangingPunct="1">
              <a:lnSpc>
                <a:spcPct val="80000"/>
              </a:lnSpc>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Limited accuracy in waste classification</a:t>
            </a:r>
          </a:p>
          <a:p>
            <a:pPr marL="273050" indent="-273050" eaLnBrk="1" hangingPunct="1">
              <a:lnSpc>
                <a:spcPct val="80000"/>
              </a:lnSpc>
              <a:spcBef>
                <a:spcPts val="575"/>
              </a:spcBef>
              <a:buClr>
                <a:schemeClr val="accent1"/>
              </a:buClr>
              <a:buSzPct val="85000"/>
              <a:buFont typeface="Wingdings 2" pitchFamily="18" charset="2"/>
              <a:buChar char=""/>
            </a:pPr>
            <a:r>
              <a:rPr lang="en-US" dirty="0">
                <a:latin typeface="Times New Roman" pitchFamily="18" charset="0"/>
                <a:cs typeface="Times New Roman" pitchFamily="18" charset="0"/>
              </a:rPr>
              <a:t>Therefore, there is a need for a more efficient, low-cost, and automated smart dustbin system.</a:t>
            </a:r>
          </a:p>
          <a:p>
            <a:pPr marL="273050" indent="-273050" eaLnBrk="1" hangingPunct="1">
              <a:lnSpc>
                <a:spcPct val="80000"/>
              </a:lnSpc>
              <a:spcBef>
                <a:spcPts val="575"/>
              </a:spcBef>
              <a:buClr>
                <a:schemeClr val="accent1"/>
              </a:buClr>
              <a:buSzPct val="85000"/>
            </a:pP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a:p>
            <a:pPr marL="273050" indent="-273050" eaLnBrk="1" hangingPunct="1">
              <a:lnSpc>
                <a:spcPct val="80000"/>
              </a:lnSpc>
              <a:spcBef>
                <a:spcPts val="575"/>
              </a:spcBef>
              <a:buClr>
                <a:schemeClr val="accent1"/>
              </a:buClr>
              <a:buSzPct val="85000"/>
              <a:buFont typeface="Wingdings 2" pitchFamily="18" charset="2"/>
              <a:buNone/>
            </a:pPr>
            <a:endParaRPr lang="en-IN" b="1" dirty="0">
              <a:solidFill>
                <a:srgbClr val="C00000"/>
              </a:solidFill>
              <a:latin typeface="Times New Roman" pitchFamily="18" charset="0"/>
              <a:cs typeface="Times New Roman" pitchFamily="18" charset="0"/>
            </a:endParaRPr>
          </a:p>
        </p:txBody>
      </p:sp>
      <p:pic>
        <p:nvPicPr>
          <p:cNvPr id="25605" name="Picture 1"/>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
          </p:nvPr>
        </p:nvSpPr>
        <p:spPr>
          <a:xfrm>
            <a:off x="1219200" y="731520"/>
            <a:ext cx="10363200" cy="5288280"/>
          </a:xfrm>
        </p:spPr>
        <p:txBody>
          <a:bodyPr/>
          <a:lstStyle/>
          <a:p>
            <a:pPr algn="just" eaLnBrk="1" hangingPunct="1">
              <a:lnSpc>
                <a:spcPct val="80000"/>
              </a:lnSpc>
              <a:buNone/>
            </a:pPr>
            <a:endParaRPr lang="en-US" sz="1800" b="1" dirty="0" smtClean="0">
              <a:latin typeface="Times New Roman" pitchFamily="18" charset="0"/>
              <a:cs typeface="Times New Roman" pitchFamily="18" charset="0"/>
            </a:endParaRPr>
          </a:p>
          <a:p>
            <a:pPr algn="just" eaLnBrk="1" hangingPunct="1">
              <a:lnSpc>
                <a:spcPct val="80000"/>
              </a:lnSpc>
            </a:pPr>
            <a:r>
              <a:rPr lang="en-US" sz="1800" dirty="0" smtClean="0">
                <a:latin typeface="Times New Roman" pitchFamily="18" charset="0"/>
                <a:cs typeface="Times New Roman" pitchFamily="18" charset="0"/>
              </a:rPr>
              <a:t>The proposed system aims to design and implement a </a:t>
            </a:r>
            <a:r>
              <a:rPr lang="en-US" sz="1800" b="1" dirty="0" smtClean="0">
                <a:latin typeface="Times New Roman" pitchFamily="18" charset="0"/>
                <a:cs typeface="Times New Roman" pitchFamily="18" charset="0"/>
              </a:rPr>
              <a:t>Smart Dustbin with Automatic Waste Segregation and Level Monitoring</a:t>
            </a:r>
            <a:r>
              <a:rPr lang="en-US" sz="1800" dirty="0" smtClean="0">
                <a:latin typeface="Times New Roman" pitchFamily="18" charset="0"/>
                <a:cs typeface="Times New Roman" pitchFamily="18" charset="0"/>
              </a:rPr>
              <a:t>.</a:t>
            </a:r>
          </a:p>
          <a:p>
            <a:pPr algn="just" eaLnBrk="1" hangingPunct="1">
              <a:lnSpc>
                <a:spcPct val="80000"/>
              </a:lnSpc>
            </a:pPr>
            <a:r>
              <a:rPr lang="en-US" sz="1800" b="1" dirty="0" smtClean="0">
                <a:latin typeface="Times New Roman" pitchFamily="18" charset="0"/>
                <a:cs typeface="Times New Roman" pitchFamily="18" charset="0"/>
              </a:rPr>
              <a:t>🔹 Working Principle:</a:t>
            </a:r>
          </a:p>
          <a:p>
            <a:pPr algn="just" eaLnBrk="1" hangingPunct="1">
              <a:lnSpc>
                <a:spcPct val="80000"/>
              </a:lnSpc>
            </a:pPr>
            <a:r>
              <a:rPr lang="en-US" sz="1800" b="1" dirty="0" smtClean="0">
                <a:latin typeface="Times New Roman" pitchFamily="18" charset="0"/>
                <a:cs typeface="Times New Roman" pitchFamily="18" charset="0"/>
              </a:rPr>
              <a:t>Ultrasonic Sensor</a:t>
            </a:r>
            <a:r>
              <a:rPr lang="en-US" sz="1800" dirty="0" smtClean="0">
                <a:latin typeface="Times New Roman" pitchFamily="18" charset="0"/>
                <a:cs typeface="Times New Roman" pitchFamily="18" charset="0"/>
              </a:rPr>
              <a:t> – Detects the garbage level inside the dustbin.</a:t>
            </a:r>
          </a:p>
          <a:p>
            <a:pPr algn="just" eaLnBrk="1" hangingPunct="1">
              <a:lnSpc>
                <a:spcPct val="80000"/>
              </a:lnSpc>
            </a:pPr>
            <a:r>
              <a:rPr lang="en-US" sz="1800" b="1" dirty="0" smtClean="0">
                <a:latin typeface="Times New Roman" pitchFamily="18" charset="0"/>
                <a:cs typeface="Times New Roman" pitchFamily="18" charset="0"/>
              </a:rPr>
              <a:t>Moisture Sensor</a:t>
            </a:r>
            <a:r>
              <a:rPr lang="en-US" sz="1800" dirty="0" smtClean="0">
                <a:latin typeface="Times New Roman" pitchFamily="18" charset="0"/>
                <a:cs typeface="Times New Roman" pitchFamily="18" charset="0"/>
              </a:rPr>
              <a:t> – Identifies wet waste.</a:t>
            </a:r>
          </a:p>
          <a:p>
            <a:pPr algn="just" eaLnBrk="1" hangingPunct="1">
              <a:lnSpc>
                <a:spcPct val="80000"/>
              </a:lnSpc>
            </a:pPr>
            <a:r>
              <a:rPr lang="en-US" sz="1800" b="1" dirty="0" smtClean="0">
                <a:latin typeface="Times New Roman" pitchFamily="18" charset="0"/>
                <a:cs typeface="Times New Roman" pitchFamily="18" charset="0"/>
              </a:rPr>
              <a:t>Metal Sensor</a:t>
            </a:r>
            <a:r>
              <a:rPr lang="en-US" sz="1800" dirty="0" smtClean="0">
                <a:latin typeface="Times New Roman" pitchFamily="18" charset="0"/>
                <a:cs typeface="Times New Roman" pitchFamily="18" charset="0"/>
              </a:rPr>
              <a:t> – Detects metal waste.</a:t>
            </a:r>
          </a:p>
          <a:p>
            <a:pPr algn="just" eaLnBrk="1" hangingPunct="1">
              <a:lnSpc>
                <a:spcPct val="80000"/>
              </a:lnSpc>
            </a:pPr>
            <a:r>
              <a:rPr lang="en-US" sz="1800" b="1" dirty="0" smtClean="0">
                <a:latin typeface="Times New Roman" pitchFamily="18" charset="0"/>
                <a:cs typeface="Times New Roman" pitchFamily="18" charset="0"/>
              </a:rPr>
              <a:t>Microcontroller (</a:t>
            </a:r>
            <a:r>
              <a:rPr lang="en-US" sz="1800" b="1" dirty="0" err="1" smtClean="0">
                <a:latin typeface="Times New Roman" pitchFamily="18" charset="0"/>
                <a:cs typeface="Times New Roman" pitchFamily="18" charset="0"/>
              </a:rPr>
              <a:t>Arduino</a:t>
            </a:r>
            <a:r>
              <a:rPr lang="en-US" sz="1800" b="1" dirty="0" smtClean="0">
                <a:latin typeface="Times New Roman" pitchFamily="18" charset="0"/>
                <a:cs typeface="Times New Roman" pitchFamily="18" charset="0"/>
              </a:rPr>
              <a:t>)</a:t>
            </a:r>
            <a:r>
              <a:rPr lang="en-US" sz="1800" dirty="0" smtClean="0">
                <a:latin typeface="Times New Roman" pitchFamily="18" charset="0"/>
                <a:cs typeface="Times New Roman" pitchFamily="18" charset="0"/>
              </a:rPr>
              <a:t> – Controls the entire system.</a:t>
            </a:r>
          </a:p>
          <a:p>
            <a:pPr algn="just" eaLnBrk="1" hangingPunct="1">
              <a:lnSpc>
                <a:spcPct val="80000"/>
              </a:lnSpc>
            </a:pPr>
            <a:r>
              <a:rPr lang="en-US" sz="1800" b="1" dirty="0" smtClean="0">
                <a:latin typeface="Times New Roman" pitchFamily="18" charset="0"/>
                <a:cs typeface="Times New Roman" pitchFamily="18" charset="0"/>
              </a:rPr>
              <a:t>Servo Motor</a:t>
            </a:r>
            <a:r>
              <a:rPr lang="en-US" sz="1800" dirty="0" smtClean="0">
                <a:latin typeface="Times New Roman" pitchFamily="18" charset="0"/>
                <a:cs typeface="Times New Roman" pitchFamily="18" charset="0"/>
              </a:rPr>
              <a:t> – Directs waste into respective compartments.</a:t>
            </a:r>
          </a:p>
          <a:p>
            <a:pPr algn="just" eaLnBrk="1" hangingPunct="1">
              <a:lnSpc>
                <a:spcPct val="80000"/>
              </a:lnSpc>
            </a:pPr>
            <a:r>
              <a:rPr lang="en-US" sz="1800" b="1" dirty="0" smtClean="0">
                <a:latin typeface="Times New Roman" pitchFamily="18" charset="0"/>
                <a:cs typeface="Times New Roman" pitchFamily="18" charset="0"/>
              </a:rPr>
              <a:t>GSM/</a:t>
            </a:r>
            <a:r>
              <a:rPr lang="en-US" sz="1800" b="1" dirty="0" err="1" smtClean="0">
                <a:latin typeface="Times New Roman" pitchFamily="18" charset="0"/>
                <a:cs typeface="Times New Roman" pitchFamily="18" charset="0"/>
              </a:rPr>
              <a:t>WiFi</a:t>
            </a:r>
            <a:r>
              <a:rPr lang="en-US" sz="1800" b="1" dirty="0" smtClean="0">
                <a:latin typeface="Times New Roman" pitchFamily="18" charset="0"/>
                <a:cs typeface="Times New Roman" pitchFamily="18" charset="0"/>
              </a:rPr>
              <a:t> Module</a:t>
            </a:r>
            <a:r>
              <a:rPr lang="en-US" sz="1800" dirty="0" smtClean="0">
                <a:latin typeface="Times New Roman" pitchFamily="18" charset="0"/>
                <a:cs typeface="Times New Roman" pitchFamily="18" charset="0"/>
              </a:rPr>
              <a:t> – Sends notification when the bin is full.</a:t>
            </a:r>
          </a:p>
          <a:p>
            <a:pPr algn="just" eaLnBrk="1" hangingPunct="1">
              <a:lnSpc>
                <a:spcPct val="80000"/>
              </a:lnSpc>
            </a:pPr>
            <a:r>
              <a:rPr lang="en-US" sz="1800" b="1" dirty="0" smtClean="0">
                <a:latin typeface="Times New Roman" pitchFamily="18" charset="0"/>
                <a:cs typeface="Times New Roman" pitchFamily="18" charset="0"/>
              </a:rPr>
              <a:t>🔹 How It Works:</a:t>
            </a:r>
          </a:p>
          <a:p>
            <a:pPr algn="just" eaLnBrk="1" hangingPunct="1">
              <a:lnSpc>
                <a:spcPct val="80000"/>
              </a:lnSpc>
            </a:pPr>
            <a:r>
              <a:rPr lang="en-US" sz="1800" dirty="0" smtClean="0">
                <a:latin typeface="Times New Roman" pitchFamily="18" charset="0"/>
                <a:cs typeface="Times New Roman" pitchFamily="18" charset="0"/>
              </a:rPr>
              <a:t>When waste is placed in the dustbin, sensors detect the type of waste.</a:t>
            </a:r>
          </a:p>
          <a:p>
            <a:pPr algn="just" eaLnBrk="1" hangingPunct="1">
              <a:lnSpc>
                <a:spcPct val="80000"/>
              </a:lnSpc>
            </a:pPr>
            <a:r>
              <a:rPr lang="en-US" sz="1800" dirty="0" smtClean="0">
                <a:latin typeface="Times New Roman" pitchFamily="18" charset="0"/>
                <a:cs typeface="Times New Roman" pitchFamily="18" charset="0"/>
              </a:rPr>
              <a:t>Based on sensor output, the servo motor rotates and directs waste into wet/dry/metal compartments.</a:t>
            </a:r>
          </a:p>
          <a:p>
            <a:pPr algn="just" eaLnBrk="1" hangingPunct="1">
              <a:lnSpc>
                <a:spcPct val="80000"/>
              </a:lnSpc>
            </a:pPr>
            <a:r>
              <a:rPr lang="en-US" sz="1800" dirty="0" smtClean="0">
                <a:latin typeface="Times New Roman" pitchFamily="18" charset="0"/>
                <a:cs typeface="Times New Roman" pitchFamily="18" charset="0"/>
              </a:rPr>
              <a:t>The ultrasonic sensor continuously monitors the fill level.</a:t>
            </a:r>
          </a:p>
          <a:p>
            <a:pPr algn="just" eaLnBrk="1" hangingPunct="1">
              <a:lnSpc>
                <a:spcPct val="80000"/>
              </a:lnSpc>
            </a:pPr>
            <a:r>
              <a:rPr lang="en-US" sz="1800" dirty="0" smtClean="0">
                <a:latin typeface="Times New Roman" pitchFamily="18" charset="0"/>
                <a:cs typeface="Times New Roman" pitchFamily="18" charset="0"/>
              </a:rPr>
              <a:t>When the bin reaches a threshold level, a notification is sent to the authority.</a:t>
            </a:r>
          </a:p>
          <a:p>
            <a:pPr algn="just" eaLnBrk="1" hangingPunct="1">
              <a:lnSpc>
                <a:spcPct val="80000"/>
              </a:lnSpc>
            </a:pPr>
            <a:r>
              <a:rPr lang="en-US" sz="1800" b="1" dirty="0" smtClean="0">
                <a:latin typeface="Times New Roman" pitchFamily="18" charset="0"/>
                <a:cs typeface="Times New Roman" pitchFamily="18" charset="0"/>
              </a:rPr>
              <a:t>🔹 Advantages of Proposed System:</a:t>
            </a:r>
          </a:p>
          <a:p>
            <a:pPr algn="just" eaLnBrk="1" hangingPunct="1">
              <a:lnSpc>
                <a:spcPct val="80000"/>
              </a:lnSpc>
            </a:pPr>
            <a:r>
              <a:rPr lang="en-US" sz="1800" dirty="0" smtClean="0">
                <a:latin typeface="Times New Roman" pitchFamily="18" charset="0"/>
                <a:cs typeface="Times New Roman" pitchFamily="18" charset="0"/>
              </a:rPr>
              <a:t>Automatic waste segregation</a:t>
            </a:r>
          </a:p>
          <a:p>
            <a:pPr algn="just" eaLnBrk="1" hangingPunct="1">
              <a:lnSpc>
                <a:spcPct val="80000"/>
              </a:lnSpc>
            </a:pPr>
            <a:r>
              <a:rPr lang="en-US" sz="1800" dirty="0" smtClean="0">
                <a:latin typeface="Times New Roman" pitchFamily="18" charset="0"/>
                <a:cs typeface="Times New Roman" pitchFamily="18" charset="0"/>
              </a:rPr>
              <a:t>Prevents overflow</a:t>
            </a:r>
          </a:p>
          <a:p>
            <a:pPr algn="just"/>
            <a:endParaRPr lang="en-US" sz="1800" dirty="0"/>
          </a:p>
        </p:txBody>
      </p:sp>
      <p:sp>
        <p:nvSpPr>
          <p:cNvPr id="3" name="Title 2"/>
          <p:cNvSpPr>
            <a:spLocks noGrp="1"/>
          </p:cNvSpPr>
          <p:nvPr>
            <p:ph type="title"/>
          </p:nvPr>
        </p:nvSpPr>
        <p:spPr>
          <a:xfrm>
            <a:off x="1219200" y="209007"/>
            <a:ext cx="10363200" cy="613954"/>
          </a:xfrm>
        </p:spPr>
        <p:txBody>
          <a:bodyPr/>
          <a:lstStyle/>
          <a:p>
            <a:pPr marL="273050" indent="-273050" algn="ctr" eaLnBrk="1" hangingPunct="1">
              <a:lnSpc>
                <a:spcPct val="80000"/>
              </a:lnSpc>
              <a:spcBef>
                <a:spcPts val="575"/>
              </a:spcBef>
            </a:pPr>
            <a:r>
              <a:rPr lang="en-IN" sz="2800" dirty="0" smtClean="0">
                <a:solidFill>
                  <a:srgbClr val="0E58C4"/>
                </a:solidFill>
                <a:latin typeface="Times New Roman" pitchFamily="18" charset="0"/>
                <a:ea typeface="Microsoft Sans Serif" pitchFamily="34" charset="0"/>
                <a:cs typeface="Times New Roman" pitchFamily="18" charset="0"/>
              </a:rPr>
              <a:t>Explanation of Proposed Work</a:t>
            </a:r>
            <a:endParaRPr lang="en-US" sz="2800" dirty="0"/>
          </a:p>
        </p:txBody>
      </p:sp>
      <p:sp>
        <p:nvSpPr>
          <p:cNvPr id="4" name="Slide Number Placeholder 3"/>
          <p:cNvSpPr>
            <a:spLocks noGrp="1"/>
          </p:cNvSpPr>
          <p:nvPr>
            <p:ph type="sldNum" sz="quarter" idx="12"/>
          </p:nvPr>
        </p:nvSpPr>
        <p:spPr/>
        <p:txBody>
          <a:bodyPr/>
          <a:lstStyle/>
          <a:p>
            <a:fld id="{AB24CF10-D076-4E64-B53E-8C8CA0F3F421}" type="slidenum">
              <a:rPr lang="en-US" altLang="en-US" smtClean="0"/>
              <a:pPr/>
              <a:t>14</a:t>
            </a:fld>
            <a:endParaRPr lang="en-US" alt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54DA3AC-A219-4B62-89B1-2C752DB5FA14}" type="slidenum">
              <a:rPr lang="en-US" altLang="en-US"/>
              <a:pPr/>
              <a:t>15</a:t>
            </a:fld>
            <a:endParaRPr lang="en-US" altLang="en-US"/>
          </a:p>
        </p:txBody>
      </p:sp>
      <p:sp>
        <p:nvSpPr>
          <p:cNvPr id="6" name="Title 5"/>
          <p:cNvSpPr>
            <a:spLocks noGrp="1"/>
          </p:cNvSpPr>
          <p:nvPr>
            <p:ph type="title"/>
          </p:nvPr>
        </p:nvSpPr>
        <p:spPr>
          <a:xfrm>
            <a:off x="1219200" y="384175"/>
            <a:ext cx="10363200" cy="1033463"/>
          </a:xfrm>
        </p:spPr>
        <p:txBody>
          <a:bodyPr>
            <a:normAutofit fontScale="90000"/>
          </a:bodyPr>
          <a:lstStyle/>
          <a:p>
            <a:pPr algn="ctr" eaLnBrk="1" hangingPunct="1"/>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3600" dirty="0" smtClean="0">
                <a:solidFill>
                  <a:srgbClr val="0E58C4"/>
                </a:solidFill>
                <a:latin typeface="Times New Roman" pitchFamily="18" charset="0"/>
                <a:ea typeface="Microsoft Sans Serif" pitchFamily="34" charset="0"/>
                <a:cs typeface="Times New Roman" pitchFamily="18" charset="0"/>
              </a:rPr>
              <a:t/>
            </a:r>
            <a:br>
              <a:rPr lang="en-US" sz="36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2400" dirty="0" smtClean="0">
                <a:solidFill>
                  <a:srgbClr val="0E58C4"/>
                </a:solidFill>
                <a:latin typeface="Times New Roman" pitchFamily="18" charset="0"/>
                <a:ea typeface="Microsoft Sans Serif" pitchFamily="34" charset="0"/>
                <a:cs typeface="Times New Roman" pitchFamily="18" charset="0"/>
              </a:rPr>
              <a:t/>
            </a:r>
            <a:br>
              <a:rPr lang="en-US" sz="2400" dirty="0" smtClean="0">
                <a:solidFill>
                  <a:srgbClr val="0E58C4"/>
                </a:solidFill>
                <a:latin typeface="Times New Roman" pitchFamily="18" charset="0"/>
                <a:ea typeface="Microsoft Sans Serif" pitchFamily="34" charset="0"/>
                <a:cs typeface="Times New Roman" pitchFamily="18" charset="0"/>
              </a:rPr>
            </a:br>
            <a:r>
              <a:rPr lang="en-US" sz="3200" dirty="0" smtClean="0">
                <a:solidFill>
                  <a:srgbClr val="0E58C4"/>
                </a:solidFill>
                <a:latin typeface="Times New Roman" pitchFamily="18" charset="0"/>
                <a:ea typeface="Microsoft Sans Serif" pitchFamily="34" charset="0"/>
                <a:cs typeface="Times New Roman" pitchFamily="18" charset="0"/>
              </a:rPr>
              <a:t>Hardware &amp; Software Involved</a:t>
            </a:r>
            <a:r>
              <a:rPr lang="en-IN" sz="4400" dirty="0" smtClean="0">
                <a:solidFill>
                  <a:srgbClr val="0E58C4"/>
                </a:solidFill>
                <a:latin typeface="Times New Roman" pitchFamily="18" charset="0"/>
                <a:ea typeface="Microsoft Sans Serif" pitchFamily="34" charset="0"/>
                <a:cs typeface="Times New Roman" pitchFamily="18" charset="0"/>
              </a:rPr>
              <a:t/>
            </a:r>
            <a:br>
              <a:rPr lang="en-IN" sz="4400" dirty="0" smtClean="0">
                <a:solidFill>
                  <a:srgbClr val="0E58C4"/>
                </a:solidFill>
                <a:latin typeface="Times New Roman" pitchFamily="18" charset="0"/>
                <a:ea typeface="Microsoft Sans Serif" pitchFamily="34" charset="0"/>
                <a:cs typeface="Times New Roman" pitchFamily="18" charset="0"/>
              </a:rPr>
            </a:br>
            <a:endParaRPr lang="en-IN" sz="3600" dirty="0" smtClean="0">
              <a:solidFill>
                <a:srgbClr val="0E58C4"/>
              </a:solidFill>
              <a:latin typeface="Times New Roman" pitchFamily="18" charset="0"/>
              <a:ea typeface="Microsoft Sans Serif" pitchFamily="34" charset="0"/>
              <a:cs typeface="Times New Roman" pitchFamily="18" charset="0"/>
            </a:endParaRPr>
          </a:p>
        </p:txBody>
      </p:sp>
      <p:sp>
        <p:nvSpPr>
          <p:cNvPr id="9" name="Content Placeholder 2"/>
          <p:cNvSpPr txBox="1">
            <a:spLocks/>
          </p:cNvSpPr>
          <p:nvPr/>
        </p:nvSpPr>
        <p:spPr>
          <a:xfrm>
            <a:off x="804863" y="996950"/>
            <a:ext cx="10929937" cy="5670550"/>
          </a:xfrm>
          <a:prstGeom prst="rect">
            <a:avLst/>
          </a:prstGeom>
        </p:spPr>
        <p:txBody>
          <a:bodyPr>
            <a:normAutofit/>
          </a:bodyPr>
          <a:lstStyle/>
          <a:p>
            <a:pPr marL="273050" indent="-457200" eaLnBrk="1" hangingPunct="1">
              <a:lnSpc>
                <a:spcPct val="60000"/>
              </a:lnSpc>
              <a:spcBef>
                <a:spcPts val="575"/>
              </a:spcBef>
              <a:buClr>
                <a:schemeClr val="accent1"/>
              </a:buClr>
              <a:buSzPct val="85000"/>
              <a:buFont typeface="Wingdings" pitchFamily="2" charset="2"/>
              <a:buChar char="q"/>
            </a:pPr>
            <a:endParaRPr lang="en-IN" altLang="en-US" sz="900" dirty="0">
              <a:solidFill>
                <a:srgbClr val="000000"/>
              </a:solidFill>
              <a:latin typeface="Times New Roman" pitchFamily="18" charset="0"/>
              <a:ea typeface="Microsoft Sans Serif" pitchFamily="34" charset="0"/>
              <a:cs typeface="Times New Roman" pitchFamily="18" charset="0"/>
            </a:endParaRPr>
          </a:p>
          <a:p>
            <a:pPr marL="273050" indent="-457200" eaLnBrk="1" hangingPunct="1">
              <a:lnSpc>
                <a:spcPct val="60000"/>
              </a:lnSpc>
              <a:spcBef>
                <a:spcPts val="575"/>
              </a:spcBef>
              <a:buClr>
                <a:schemeClr val="accent1"/>
              </a:buClr>
              <a:buSzPct val="85000"/>
              <a:buFont typeface="Wingdings" pitchFamily="2" charset="2"/>
              <a:buChar char="q"/>
            </a:pPr>
            <a:endParaRPr lang="en-IN" altLang="en-US" sz="900" b="1" dirty="0">
              <a:solidFill>
                <a:srgbClr val="000000"/>
              </a:solidFill>
              <a:latin typeface="Times New Roman" pitchFamily="18" charset="0"/>
              <a:ea typeface="Microsoft Sans Serif" pitchFamily="34" charset="0"/>
              <a:cs typeface="Times New Roman" pitchFamily="18" charset="0"/>
            </a:endParaRPr>
          </a:p>
          <a:p>
            <a:pPr marL="273050" indent="-457200" eaLnBrk="1" hangingPunct="1">
              <a:lnSpc>
                <a:spcPct val="60000"/>
              </a:lnSpc>
              <a:spcBef>
                <a:spcPts val="575"/>
              </a:spcBef>
              <a:buClr>
                <a:schemeClr val="accent1"/>
              </a:buClr>
              <a:buSzPct val="85000"/>
              <a:buFont typeface="Wingdings 2" pitchFamily="18" charset="2"/>
              <a:buChar char=""/>
            </a:pPr>
            <a:r>
              <a:rPr lang="en-US" altLang="en-US" b="1" dirty="0">
                <a:latin typeface="Times New Roman" pitchFamily="18" charset="0"/>
                <a:ea typeface="Microsoft Sans Serif" pitchFamily="34" charset="0"/>
                <a:cs typeface="Times New Roman" pitchFamily="18" charset="0"/>
              </a:rPr>
              <a:t>Hardware </a:t>
            </a:r>
            <a:r>
              <a:rPr lang="en-US" altLang="en-US" b="1" dirty="0" smtClean="0">
                <a:latin typeface="Times New Roman" pitchFamily="18" charset="0"/>
                <a:ea typeface="Microsoft Sans Serif" pitchFamily="34" charset="0"/>
                <a:cs typeface="Times New Roman" pitchFamily="18" charset="0"/>
              </a:rPr>
              <a:t>Requirements:-</a:t>
            </a:r>
            <a:endParaRPr lang="en-US" altLang="en-US" b="1" dirty="0">
              <a:latin typeface="Times New Roman" pitchFamily="18" charset="0"/>
              <a:ea typeface="Microsoft Sans Serif" pitchFamily="34" charset="0"/>
              <a:cs typeface="Times New Roman" pitchFamily="18" charset="0"/>
            </a:endParaRPr>
          </a:p>
          <a:p>
            <a:pPr marL="273050" indent="-457200" eaLnBrk="1" hangingPunct="1">
              <a:lnSpc>
                <a:spcPct val="60000"/>
              </a:lnSpc>
              <a:spcBef>
                <a:spcPts val="575"/>
              </a:spcBef>
              <a:buClr>
                <a:schemeClr val="accent1"/>
              </a:buClr>
              <a:buSzPct val="85000"/>
              <a:buFont typeface="Wingdings" pitchFamily="2" charset="2"/>
              <a:buChar char="Ø"/>
            </a:pPr>
            <a:r>
              <a:rPr lang="en-US" altLang="en-US" b="1" dirty="0">
                <a:latin typeface="Times New Roman" pitchFamily="18" charset="0"/>
                <a:ea typeface="Microsoft Sans Serif" pitchFamily="34" charset="0"/>
                <a:cs typeface="Times New Roman" pitchFamily="18" charset="0"/>
              </a:rPr>
              <a:t>Microcontroller (</a:t>
            </a:r>
            <a:r>
              <a:rPr lang="en-US" altLang="en-US" b="1" dirty="0" err="1">
                <a:latin typeface="Times New Roman" pitchFamily="18" charset="0"/>
                <a:ea typeface="Microsoft Sans Serif" pitchFamily="34" charset="0"/>
                <a:cs typeface="Times New Roman" pitchFamily="18" charset="0"/>
              </a:rPr>
              <a:t>Arduino</a:t>
            </a:r>
            <a:r>
              <a:rPr lang="en-US" altLang="en-US" b="1" dirty="0">
                <a:latin typeface="Times New Roman" pitchFamily="18" charset="0"/>
                <a:ea typeface="Microsoft Sans Serif" pitchFamily="34" charset="0"/>
                <a:cs typeface="Times New Roman" pitchFamily="18" charset="0"/>
              </a:rPr>
              <a:t> UNO</a:t>
            </a:r>
            <a:r>
              <a:rPr lang="en-US" altLang="en-US" b="1" dirty="0" smtClean="0">
                <a:latin typeface="Times New Roman" pitchFamily="18" charset="0"/>
                <a:ea typeface="Microsoft Sans Serif" pitchFamily="34" charset="0"/>
                <a:cs typeface="Times New Roman" pitchFamily="18" charset="0"/>
              </a:rPr>
              <a:t>)</a:t>
            </a:r>
          </a:p>
          <a:p>
            <a:pPr marL="273050" indent="-457200" eaLnBrk="1" hangingPunct="1">
              <a:lnSpc>
                <a:spcPct val="60000"/>
              </a:lnSpc>
              <a:spcBef>
                <a:spcPts val="575"/>
              </a:spcBef>
              <a:buClr>
                <a:schemeClr val="accent1"/>
              </a:buClr>
              <a:buSzPct val="85000"/>
              <a:buFont typeface="Wingdings" pitchFamily="2" charset="2"/>
              <a:buChar char="Ø"/>
            </a:pPr>
            <a:r>
              <a:rPr lang="en-US" altLang="en-US" dirty="0" smtClean="0">
                <a:latin typeface="Times New Roman" pitchFamily="18" charset="0"/>
                <a:ea typeface="Microsoft Sans Serif" pitchFamily="34" charset="0"/>
                <a:cs typeface="Times New Roman" pitchFamily="18" charset="0"/>
              </a:rPr>
              <a:t>Controls the entire system and processes sensor inputs. </a:t>
            </a:r>
            <a:endParaRPr lang="en-US" altLang="en-US" dirty="0" smtClean="0">
              <a:latin typeface="Times New Roman" pitchFamily="18" charset="0"/>
              <a:ea typeface="Microsoft Sans Serif" pitchFamily="34" charset="0"/>
              <a:cs typeface="Times New Roman" pitchFamily="18" charset="0"/>
            </a:endParaRPr>
          </a:p>
          <a:p>
            <a:pPr marL="273050" indent="-457200" eaLnBrk="1" hangingPunct="1">
              <a:lnSpc>
                <a:spcPct val="60000"/>
              </a:lnSpc>
              <a:spcBef>
                <a:spcPts val="575"/>
              </a:spcBef>
              <a:buClr>
                <a:schemeClr val="accent1"/>
              </a:buClr>
              <a:buSzPct val="85000"/>
              <a:buFont typeface="Wingdings" pitchFamily="2" charset="2"/>
              <a:buChar char="Ø"/>
            </a:pPr>
            <a:r>
              <a:rPr lang="en-US" altLang="en-US" b="1" dirty="0" smtClean="0">
                <a:latin typeface="Times New Roman" pitchFamily="18" charset="0"/>
                <a:ea typeface="Microsoft Sans Serif" pitchFamily="34" charset="0"/>
                <a:cs typeface="Times New Roman" pitchFamily="18" charset="0"/>
              </a:rPr>
              <a:t>Moisture Sensor:</a:t>
            </a:r>
          </a:p>
          <a:p>
            <a:pPr marL="273050" indent="-457200" eaLnBrk="1" hangingPunct="1">
              <a:lnSpc>
                <a:spcPct val="60000"/>
              </a:lnSpc>
              <a:spcBef>
                <a:spcPts val="575"/>
              </a:spcBef>
              <a:buClr>
                <a:schemeClr val="accent1"/>
              </a:buClr>
              <a:buSzPct val="85000"/>
              <a:buFont typeface="Wingdings" pitchFamily="2" charset="2"/>
              <a:buChar char="Ø"/>
            </a:pPr>
            <a:r>
              <a:rPr lang="en-US" altLang="en-US" dirty="0" smtClean="0">
                <a:latin typeface="Times New Roman" pitchFamily="18" charset="0"/>
                <a:ea typeface="Microsoft Sans Serif" pitchFamily="34" charset="0"/>
                <a:cs typeface="Times New Roman" pitchFamily="18" charset="0"/>
              </a:rPr>
              <a:t>Used to detect wet waste based on moisture content.</a:t>
            </a:r>
          </a:p>
          <a:p>
            <a:pPr marL="273050" indent="-457200" eaLnBrk="1" hangingPunct="1">
              <a:lnSpc>
                <a:spcPct val="60000"/>
              </a:lnSpc>
              <a:spcBef>
                <a:spcPts val="575"/>
              </a:spcBef>
              <a:buClr>
                <a:schemeClr val="accent1"/>
              </a:buClr>
              <a:buSzPct val="85000"/>
              <a:buFont typeface="Wingdings" pitchFamily="2" charset="2"/>
              <a:buChar char="Ø"/>
            </a:pPr>
            <a:r>
              <a:rPr lang="en-US" altLang="en-US" dirty="0" smtClean="0">
                <a:latin typeface="Times New Roman" pitchFamily="18" charset="0"/>
                <a:ea typeface="Microsoft Sans Serif" pitchFamily="34" charset="0"/>
                <a:cs typeface="Times New Roman" pitchFamily="18" charset="0"/>
              </a:rPr>
              <a:t> </a:t>
            </a:r>
            <a:r>
              <a:rPr lang="en-US" altLang="en-US" dirty="0">
                <a:latin typeface="Times New Roman" pitchFamily="18" charset="0"/>
                <a:ea typeface="Microsoft Sans Serif" pitchFamily="34" charset="0"/>
                <a:cs typeface="Times New Roman" pitchFamily="18" charset="0"/>
              </a:rPr>
              <a:t/>
            </a:r>
            <a:br>
              <a:rPr lang="en-US" altLang="en-US" dirty="0">
                <a:latin typeface="Times New Roman" pitchFamily="18" charset="0"/>
                <a:ea typeface="Microsoft Sans Serif" pitchFamily="34" charset="0"/>
                <a:cs typeface="Times New Roman" pitchFamily="18" charset="0"/>
              </a:rPr>
            </a:br>
            <a:r>
              <a:rPr lang="en-US" altLang="en-US" dirty="0" smtClean="0">
                <a:latin typeface="Times New Roman" pitchFamily="18" charset="0"/>
                <a:ea typeface="Microsoft Sans Serif" pitchFamily="34" charset="0"/>
                <a:cs typeface="Times New Roman" pitchFamily="18" charset="0"/>
              </a:rPr>
              <a:t>    </a:t>
            </a:r>
            <a:r>
              <a:rPr lang="en-US" altLang="en-US" b="1" dirty="0" smtClean="0">
                <a:latin typeface="Times New Roman" pitchFamily="18" charset="0"/>
                <a:ea typeface="Microsoft Sans Serif" pitchFamily="34" charset="0"/>
                <a:cs typeface="Times New Roman" pitchFamily="18" charset="0"/>
              </a:rPr>
              <a:t>IR Sensor:</a:t>
            </a:r>
          </a:p>
          <a:p>
            <a:pPr marL="273050" indent="-457200" eaLnBrk="1" hangingPunct="1">
              <a:lnSpc>
                <a:spcPct val="60000"/>
              </a:lnSpc>
              <a:spcBef>
                <a:spcPts val="575"/>
              </a:spcBef>
              <a:buClr>
                <a:schemeClr val="accent1"/>
              </a:buClr>
              <a:buSzPct val="85000"/>
              <a:buFont typeface="Wingdings" pitchFamily="2" charset="2"/>
              <a:buChar char="Ø"/>
            </a:pPr>
            <a:r>
              <a:rPr lang="en-US" altLang="en-US" dirty="0" smtClean="0">
                <a:latin typeface="Times New Roman" pitchFamily="18" charset="0"/>
                <a:ea typeface="Microsoft Sans Serif" pitchFamily="34" charset="0"/>
                <a:cs typeface="Times New Roman" pitchFamily="18" charset="0"/>
              </a:rPr>
              <a:t>Detects the presence of waste in the dustbin</a:t>
            </a:r>
            <a:r>
              <a:rPr lang="en-US" altLang="en-US" dirty="0" smtClean="0">
                <a:latin typeface="Times New Roman" pitchFamily="18" charset="0"/>
                <a:ea typeface="Microsoft Sans Serif" pitchFamily="34" charset="0"/>
                <a:cs typeface="Times New Roman" pitchFamily="18" charset="0"/>
              </a:rPr>
              <a:t>.</a:t>
            </a:r>
            <a:endParaRPr lang="en-US" altLang="en-US" dirty="0">
              <a:latin typeface="Times New Roman" pitchFamily="18" charset="0"/>
              <a:ea typeface="Microsoft Sans Serif" pitchFamily="34" charset="0"/>
              <a:cs typeface="Times New Roman" pitchFamily="18" charset="0"/>
            </a:endParaRPr>
          </a:p>
          <a:p>
            <a:pPr marL="273050" indent="-457200" eaLnBrk="1" hangingPunct="1">
              <a:lnSpc>
                <a:spcPct val="60000"/>
              </a:lnSpc>
              <a:spcBef>
                <a:spcPts val="575"/>
              </a:spcBef>
              <a:buClr>
                <a:schemeClr val="accent1"/>
              </a:buClr>
              <a:buSzPct val="85000"/>
              <a:buFont typeface="Wingdings" pitchFamily="2" charset="2"/>
              <a:buChar char="Ø"/>
            </a:pPr>
            <a:r>
              <a:rPr lang="en-US" altLang="en-US" b="1" dirty="0">
                <a:latin typeface="Times New Roman" pitchFamily="18" charset="0"/>
                <a:ea typeface="Microsoft Sans Serif" pitchFamily="34" charset="0"/>
                <a:cs typeface="Times New Roman" pitchFamily="18" charset="0"/>
              </a:rPr>
              <a:t>Servo </a:t>
            </a:r>
            <a:r>
              <a:rPr lang="en-US" altLang="en-US" b="1" dirty="0" smtClean="0">
                <a:latin typeface="Times New Roman" pitchFamily="18" charset="0"/>
                <a:ea typeface="Microsoft Sans Serif" pitchFamily="34" charset="0"/>
                <a:cs typeface="Times New Roman" pitchFamily="18" charset="0"/>
              </a:rPr>
              <a:t>Motor:</a:t>
            </a:r>
          </a:p>
          <a:p>
            <a:pPr marL="273050" indent="-457200" eaLnBrk="1" hangingPunct="1">
              <a:lnSpc>
                <a:spcPct val="60000"/>
              </a:lnSpc>
              <a:spcBef>
                <a:spcPts val="575"/>
              </a:spcBef>
              <a:buClr>
                <a:schemeClr val="accent1"/>
              </a:buClr>
              <a:buSzPct val="85000"/>
              <a:buFont typeface="Wingdings" pitchFamily="2" charset="2"/>
              <a:buChar char="Ø"/>
            </a:pPr>
            <a:r>
              <a:rPr lang="en-US" altLang="en-US" dirty="0" smtClean="0">
                <a:latin typeface="Times New Roman" pitchFamily="18" charset="0"/>
                <a:ea typeface="Microsoft Sans Serif" pitchFamily="34" charset="0"/>
                <a:cs typeface="Times New Roman" pitchFamily="18" charset="0"/>
              </a:rPr>
              <a:t>Directs the waste into dry or wet waste bins. </a:t>
            </a:r>
            <a:r>
              <a:rPr lang="en-US" altLang="en-US" dirty="0">
                <a:latin typeface="Times New Roman" pitchFamily="18" charset="0"/>
                <a:ea typeface="Microsoft Sans Serif" pitchFamily="34" charset="0"/>
                <a:cs typeface="Times New Roman" pitchFamily="18" charset="0"/>
              </a:rPr>
              <a:t/>
            </a:r>
            <a:br>
              <a:rPr lang="en-US" altLang="en-US" dirty="0">
                <a:latin typeface="Times New Roman" pitchFamily="18" charset="0"/>
                <a:ea typeface="Microsoft Sans Serif" pitchFamily="34" charset="0"/>
                <a:cs typeface="Times New Roman" pitchFamily="18" charset="0"/>
              </a:rPr>
            </a:br>
            <a:r>
              <a:rPr lang="en-US" altLang="en-US" dirty="0" smtClean="0">
                <a:latin typeface="Times New Roman" pitchFamily="18" charset="0"/>
                <a:ea typeface="Microsoft Sans Serif" pitchFamily="34" charset="0"/>
                <a:cs typeface="Times New Roman" pitchFamily="18" charset="0"/>
              </a:rPr>
              <a:t>     </a:t>
            </a:r>
          </a:p>
          <a:p>
            <a:pPr marL="273050" indent="-457200" eaLnBrk="1" hangingPunct="1">
              <a:lnSpc>
                <a:spcPct val="60000"/>
              </a:lnSpc>
              <a:spcBef>
                <a:spcPts val="575"/>
              </a:spcBef>
              <a:buClr>
                <a:schemeClr val="accent1"/>
              </a:buClr>
              <a:buSzPct val="85000"/>
              <a:buFont typeface="Wingdings" pitchFamily="2" charset="2"/>
              <a:buChar char="Ø"/>
            </a:pPr>
            <a:r>
              <a:rPr lang="en-US" altLang="en-US" b="1" dirty="0" smtClean="0">
                <a:latin typeface="Times New Roman" pitchFamily="18" charset="0"/>
                <a:ea typeface="Microsoft Sans Serif" pitchFamily="34" charset="0"/>
                <a:cs typeface="Times New Roman" pitchFamily="18" charset="0"/>
              </a:rPr>
              <a:t>Power Supply:</a:t>
            </a:r>
          </a:p>
          <a:p>
            <a:pPr marL="273050" indent="-457200" eaLnBrk="1" hangingPunct="1">
              <a:lnSpc>
                <a:spcPct val="60000"/>
              </a:lnSpc>
              <a:spcBef>
                <a:spcPts val="575"/>
              </a:spcBef>
              <a:buClr>
                <a:schemeClr val="accent1"/>
              </a:buClr>
              <a:buSzPct val="85000"/>
              <a:buFont typeface="Wingdings" pitchFamily="2" charset="2"/>
              <a:buChar char="Ø"/>
            </a:pPr>
            <a:r>
              <a:rPr lang="en-US" altLang="en-US" dirty="0" smtClean="0">
                <a:latin typeface="Times New Roman" pitchFamily="18" charset="0"/>
                <a:ea typeface="Microsoft Sans Serif" pitchFamily="34" charset="0"/>
                <a:cs typeface="Times New Roman" pitchFamily="18" charset="0"/>
              </a:rPr>
              <a:t>Provides required power to all components. </a:t>
            </a:r>
            <a:r>
              <a:rPr lang="en-US" altLang="en-US" dirty="0">
                <a:latin typeface="Times New Roman" pitchFamily="18" charset="0"/>
                <a:ea typeface="Microsoft Sans Serif" pitchFamily="34" charset="0"/>
                <a:cs typeface="Times New Roman" pitchFamily="18" charset="0"/>
              </a:rPr>
              <a:t/>
            </a:r>
            <a:br>
              <a:rPr lang="en-US" altLang="en-US" dirty="0">
                <a:latin typeface="Times New Roman" pitchFamily="18" charset="0"/>
                <a:ea typeface="Microsoft Sans Serif" pitchFamily="34" charset="0"/>
                <a:cs typeface="Times New Roman" pitchFamily="18" charset="0"/>
              </a:rPr>
            </a:br>
            <a:endParaRPr lang="en-US" altLang="en-US" dirty="0" smtClean="0">
              <a:latin typeface="Times New Roman" pitchFamily="18" charset="0"/>
              <a:ea typeface="Microsoft Sans Serif" pitchFamily="34" charset="0"/>
              <a:cs typeface="Times New Roman" pitchFamily="18" charset="0"/>
            </a:endParaRPr>
          </a:p>
          <a:p>
            <a:pPr marL="273050" indent="-457200" eaLnBrk="1" hangingPunct="1">
              <a:lnSpc>
                <a:spcPct val="60000"/>
              </a:lnSpc>
              <a:spcBef>
                <a:spcPts val="575"/>
              </a:spcBef>
              <a:buClr>
                <a:schemeClr val="accent1"/>
              </a:buClr>
              <a:buSzPct val="85000"/>
              <a:buFont typeface="Wingdings" pitchFamily="2" charset="2"/>
              <a:buChar char="Ø"/>
            </a:pPr>
            <a:r>
              <a:rPr lang="en-US" altLang="en-US" b="1" dirty="0" smtClean="0">
                <a:latin typeface="Times New Roman" pitchFamily="18" charset="0"/>
                <a:ea typeface="Microsoft Sans Serif" pitchFamily="34" charset="0"/>
                <a:cs typeface="Times New Roman" pitchFamily="18" charset="0"/>
              </a:rPr>
              <a:t>Dustbin </a:t>
            </a:r>
            <a:r>
              <a:rPr lang="en-US" altLang="en-US" b="1" dirty="0">
                <a:latin typeface="Times New Roman" pitchFamily="18" charset="0"/>
                <a:ea typeface="Microsoft Sans Serif" pitchFamily="34" charset="0"/>
                <a:cs typeface="Times New Roman" pitchFamily="18" charset="0"/>
              </a:rPr>
              <a:t>(Two Compartments</a:t>
            </a:r>
            <a:r>
              <a:rPr lang="en-US" altLang="en-US" b="1" dirty="0" smtClean="0">
                <a:latin typeface="Times New Roman" pitchFamily="18" charset="0"/>
                <a:ea typeface="Microsoft Sans Serif" pitchFamily="34" charset="0"/>
                <a:cs typeface="Times New Roman" pitchFamily="18" charset="0"/>
              </a:rPr>
              <a:t>):</a:t>
            </a:r>
          </a:p>
          <a:p>
            <a:pPr marL="273050" indent="-457200" eaLnBrk="1" hangingPunct="1">
              <a:lnSpc>
                <a:spcPct val="60000"/>
              </a:lnSpc>
              <a:spcBef>
                <a:spcPts val="575"/>
              </a:spcBef>
              <a:buClr>
                <a:schemeClr val="accent1"/>
              </a:buClr>
              <a:buSzPct val="85000"/>
              <a:buFont typeface="Wingdings" pitchFamily="2" charset="2"/>
              <a:buChar char="Ø"/>
            </a:pPr>
            <a:r>
              <a:rPr lang="en-US" altLang="en-US" dirty="0" smtClean="0">
                <a:latin typeface="Times New Roman" pitchFamily="18" charset="0"/>
                <a:ea typeface="Microsoft Sans Serif" pitchFamily="34" charset="0"/>
                <a:cs typeface="Times New Roman" pitchFamily="18" charset="0"/>
              </a:rPr>
              <a:t>Separate bins for dry and wet waste</a:t>
            </a:r>
            <a:r>
              <a:rPr lang="en-US" altLang="en-US" dirty="0" smtClean="0">
                <a:latin typeface="Times New Roman" pitchFamily="18" charset="0"/>
                <a:ea typeface="Microsoft Sans Serif" pitchFamily="34" charset="0"/>
                <a:cs typeface="Times New Roman" pitchFamily="18" charset="0"/>
              </a:rPr>
              <a:t>.</a:t>
            </a:r>
            <a:endParaRPr lang="en-US" altLang="en-US" dirty="0">
              <a:latin typeface="Times New Roman" pitchFamily="18" charset="0"/>
              <a:ea typeface="Microsoft Sans Serif" pitchFamily="34" charset="0"/>
              <a:cs typeface="Times New Roman" pitchFamily="18" charset="0"/>
            </a:endParaRPr>
          </a:p>
          <a:p>
            <a:pPr marL="273050" indent="-457200" eaLnBrk="1" hangingPunct="1">
              <a:lnSpc>
                <a:spcPct val="60000"/>
              </a:lnSpc>
              <a:spcBef>
                <a:spcPts val="575"/>
              </a:spcBef>
              <a:buClr>
                <a:schemeClr val="accent1"/>
              </a:buClr>
              <a:buSzPct val="85000"/>
              <a:buFont typeface="Wingdings" pitchFamily="2" charset="2"/>
              <a:buChar char="Ø"/>
            </a:pPr>
            <a:r>
              <a:rPr lang="en-US" altLang="en-US" b="1" dirty="0">
                <a:latin typeface="Times New Roman" pitchFamily="18" charset="0"/>
                <a:ea typeface="Microsoft Sans Serif" pitchFamily="34" charset="0"/>
                <a:cs typeface="Times New Roman" pitchFamily="18" charset="0"/>
              </a:rPr>
              <a:t>Connecting </a:t>
            </a:r>
            <a:r>
              <a:rPr lang="en-US" altLang="en-US" b="1" dirty="0" smtClean="0">
                <a:latin typeface="Times New Roman" pitchFamily="18" charset="0"/>
                <a:ea typeface="Microsoft Sans Serif" pitchFamily="34" charset="0"/>
                <a:cs typeface="Times New Roman" pitchFamily="18" charset="0"/>
              </a:rPr>
              <a:t>Wires:</a:t>
            </a:r>
          </a:p>
          <a:p>
            <a:pPr marL="273050" indent="-457200" eaLnBrk="1" hangingPunct="1">
              <a:lnSpc>
                <a:spcPct val="60000"/>
              </a:lnSpc>
              <a:spcBef>
                <a:spcPts val="575"/>
              </a:spcBef>
              <a:buClr>
                <a:schemeClr val="accent1"/>
              </a:buClr>
              <a:buSzPct val="85000"/>
              <a:buFont typeface="Wingdings" pitchFamily="2" charset="2"/>
              <a:buChar char="Ø"/>
            </a:pPr>
            <a:r>
              <a:rPr lang="en-US" altLang="en-US" dirty="0" smtClean="0">
                <a:latin typeface="Times New Roman" pitchFamily="18" charset="0"/>
                <a:ea typeface="Microsoft Sans Serif" pitchFamily="34" charset="0"/>
                <a:cs typeface="Times New Roman" pitchFamily="18" charset="0"/>
              </a:rPr>
              <a:t>Used to connect all hardware components. </a:t>
            </a:r>
            <a:r>
              <a:rPr lang="en-US" altLang="en-US" dirty="0">
                <a:latin typeface="Times New Roman" pitchFamily="18" charset="0"/>
                <a:ea typeface="Microsoft Sans Serif" pitchFamily="34" charset="0"/>
                <a:cs typeface="Times New Roman" pitchFamily="18" charset="0"/>
              </a:rPr>
              <a:t/>
            </a:r>
            <a:br>
              <a:rPr lang="en-US" altLang="en-US" dirty="0">
                <a:latin typeface="Times New Roman" pitchFamily="18" charset="0"/>
                <a:ea typeface="Microsoft Sans Serif" pitchFamily="34" charset="0"/>
                <a:cs typeface="Times New Roman" pitchFamily="18" charset="0"/>
              </a:rPr>
            </a:br>
            <a:endParaRPr lang="en-US" altLang="en-US" dirty="0">
              <a:latin typeface="Times New Roman" pitchFamily="18" charset="0"/>
              <a:ea typeface="Microsoft Sans Serif" pitchFamily="34" charset="0"/>
              <a:cs typeface="Times New Roman" pitchFamily="18" charset="0"/>
            </a:endParaRPr>
          </a:p>
          <a:p>
            <a:pPr marL="273050" indent="-457200" eaLnBrk="1" hangingPunct="1">
              <a:lnSpc>
                <a:spcPct val="60000"/>
              </a:lnSpc>
              <a:spcBef>
                <a:spcPts val="575"/>
              </a:spcBef>
              <a:buClr>
                <a:schemeClr val="accent1"/>
              </a:buClr>
              <a:buSzPct val="85000"/>
              <a:buFont typeface="Wingdings 2" pitchFamily="18" charset="2"/>
              <a:buChar char=""/>
            </a:pPr>
            <a:r>
              <a:rPr lang="en-US" altLang="en-US" b="1" dirty="0" smtClean="0">
                <a:latin typeface="Times New Roman" pitchFamily="18" charset="0"/>
                <a:ea typeface="Microsoft Sans Serif" pitchFamily="34" charset="0"/>
                <a:cs typeface="Times New Roman" pitchFamily="18" charset="0"/>
              </a:rPr>
              <a:t>Breadboard / PCB:</a:t>
            </a:r>
          </a:p>
          <a:p>
            <a:pPr marL="273050" indent="-457200" eaLnBrk="1" hangingPunct="1">
              <a:lnSpc>
                <a:spcPct val="60000"/>
              </a:lnSpc>
              <a:spcBef>
                <a:spcPts val="575"/>
              </a:spcBef>
              <a:buClr>
                <a:schemeClr val="accent1"/>
              </a:buClr>
              <a:buSzPct val="85000"/>
              <a:buFont typeface="Wingdings 2" pitchFamily="18" charset="2"/>
              <a:buChar char=""/>
            </a:pPr>
            <a:r>
              <a:rPr lang="en-US" altLang="en-US" dirty="0" smtClean="0">
                <a:latin typeface="Times New Roman" pitchFamily="18" charset="0"/>
                <a:ea typeface="Microsoft Sans Serif" pitchFamily="34" charset="0"/>
                <a:cs typeface="Times New Roman" pitchFamily="18" charset="0"/>
              </a:rPr>
              <a:t>For assembling and testing the circuit. </a:t>
            </a:r>
            <a:br>
              <a:rPr lang="en-US" altLang="en-US" dirty="0" smtClean="0">
                <a:latin typeface="Times New Roman" pitchFamily="18" charset="0"/>
                <a:ea typeface="Microsoft Sans Serif" pitchFamily="34" charset="0"/>
                <a:cs typeface="Times New Roman" pitchFamily="18" charset="0"/>
              </a:rPr>
            </a:br>
            <a:endParaRPr lang="en-US" altLang="en-US" dirty="0" smtClean="0">
              <a:latin typeface="Times New Roman" pitchFamily="18" charset="0"/>
              <a:ea typeface="Microsoft Sans Serif" pitchFamily="34" charset="0"/>
              <a:cs typeface="Times New Roman" pitchFamily="18" charset="0"/>
            </a:endParaRPr>
          </a:p>
          <a:p>
            <a:pPr marL="273050" indent="-457200" eaLnBrk="1" hangingPunct="1">
              <a:lnSpc>
                <a:spcPct val="60000"/>
              </a:lnSpc>
              <a:spcBef>
                <a:spcPts val="575"/>
              </a:spcBef>
              <a:buClr>
                <a:schemeClr val="accent1"/>
              </a:buClr>
              <a:buSzPct val="85000"/>
              <a:buFont typeface="Wingdings 2" pitchFamily="18" charset="2"/>
              <a:buChar char=""/>
            </a:pPr>
            <a:r>
              <a:rPr lang="en-US" altLang="en-US" dirty="0">
                <a:latin typeface="Times New Roman" pitchFamily="18" charset="0"/>
                <a:ea typeface="Microsoft Sans Serif" pitchFamily="34" charset="0"/>
                <a:cs typeface="Times New Roman" pitchFamily="18" charset="0"/>
              </a:rPr>
              <a:t/>
            </a:r>
            <a:br>
              <a:rPr lang="en-US" altLang="en-US" dirty="0">
                <a:latin typeface="Times New Roman" pitchFamily="18" charset="0"/>
                <a:ea typeface="Microsoft Sans Serif" pitchFamily="34" charset="0"/>
                <a:cs typeface="Times New Roman" pitchFamily="18" charset="0"/>
              </a:rPr>
            </a:br>
            <a:endParaRPr lang="en-IN" altLang="en-US" dirty="0">
              <a:latin typeface="Times New Roman" pitchFamily="18" charset="0"/>
              <a:ea typeface="Microsoft Sans Serif" pitchFamily="34" charset="0"/>
              <a:cs typeface="Times New Roman" pitchFamily="18" charset="0"/>
            </a:endParaRPr>
          </a:p>
        </p:txBody>
      </p:sp>
      <p:pic>
        <p:nvPicPr>
          <p:cNvPr id="26629" name="Picture 1"/>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
          </p:nvPr>
        </p:nvSpPr>
        <p:spPr/>
        <p:txBody>
          <a:bodyPr/>
          <a:lstStyle/>
          <a:p>
            <a:pPr indent="-457200" eaLnBrk="1" hangingPunct="1">
              <a:lnSpc>
                <a:spcPct val="60000"/>
              </a:lnSpc>
            </a:pPr>
            <a:r>
              <a:rPr lang="en-US" altLang="en-US" b="1" dirty="0" smtClean="0">
                <a:latin typeface="Times New Roman" pitchFamily="18" charset="0"/>
                <a:ea typeface="Microsoft Sans Serif" pitchFamily="34" charset="0"/>
                <a:cs typeface="Times New Roman" pitchFamily="18" charset="0"/>
              </a:rPr>
              <a:t>Software Requirements:-</a:t>
            </a:r>
          </a:p>
          <a:p>
            <a:pPr indent="-457200" eaLnBrk="1" hangingPunct="1">
              <a:lnSpc>
                <a:spcPct val="60000"/>
              </a:lnSpc>
            </a:pPr>
            <a:r>
              <a:rPr lang="en-US" altLang="en-US" sz="1800" b="1" dirty="0" err="1" smtClean="0">
                <a:latin typeface="Times New Roman" pitchFamily="18" charset="0"/>
                <a:ea typeface="Microsoft Sans Serif" pitchFamily="34" charset="0"/>
                <a:cs typeface="Times New Roman" pitchFamily="18" charset="0"/>
              </a:rPr>
              <a:t>Arduino</a:t>
            </a:r>
            <a:r>
              <a:rPr lang="en-US" altLang="en-US" sz="1800" b="1" dirty="0" smtClean="0">
                <a:latin typeface="Times New Roman" pitchFamily="18" charset="0"/>
                <a:ea typeface="Microsoft Sans Serif" pitchFamily="34" charset="0"/>
                <a:cs typeface="Times New Roman" pitchFamily="18" charset="0"/>
              </a:rPr>
              <a:t> IDE</a:t>
            </a:r>
          </a:p>
          <a:p>
            <a:pPr indent="-457200" eaLnBrk="1" hangingPunct="1">
              <a:lnSpc>
                <a:spcPct val="60000"/>
              </a:lnSpc>
            </a:pPr>
            <a:r>
              <a:rPr lang="en-US" altLang="en-US" sz="1800" dirty="0" smtClean="0">
                <a:latin typeface="Times New Roman" pitchFamily="18" charset="0"/>
                <a:ea typeface="Microsoft Sans Serif" pitchFamily="34" charset="0"/>
                <a:cs typeface="Times New Roman" pitchFamily="18" charset="0"/>
              </a:rPr>
              <a:t>Used to write, compile, and upload the program to the </a:t>
            </a:r>
            <a:r>
              <a:rPr lang="en-US" altLang="en-US" sz="1800" dirty="0" err="1" smtClean="0">
                <a:latin typeface="Times New Roman" pitchFamily="18" charset="0"/>
                <a:ea typeface="Microsoft Sans Serif" pitchFamily="34" charset="0"/>
                <a:cs typeface="Times New Roman" pitchFamily="18" charset="0"/>
              </a:rPr>
              <a:t>Arduino</a:t>
            </a:r>
            <a:r>
              <a:rPr lang="en-US" altLang="en-US" sz="1800" dirty="0" smtClean="0">
                <a:latin typeface="Times New Roman" pitchFamily="18" charset="0"/>
                <a:ea typeface="Microsoft Sans Serif" pitchFamily="34" charset="0"/>
                <a:cs typeface="Times New Roman" pitchFamily="18" charset="0"/>
              </a:rPr>
              <a:t> board. </a:t>
            </a:r>
            <a:br>
              <a:rPr lang="en-US" altLang="en-US" sz="1800" dirty="0" smtClean="0">
                <a:latin typeface="Times New Roman" pitchFamily="18" charset="0"/>
                <a:ea typeface="Microsoft Sans Serif" pitchFamily="34" charset="0"/>
                <a:cs typeface="Times New Roman" pitchFamily="18" charset="0"/>
              </a:rPr>
            </a:br>
            <a:endParaRPr lang="en-US" altLang="en-US" sz="1800" dirty="0" smtClean="0">
              <a:latin typeface="Times New Roman" pitchFamily="18" charset="0"/>
              <a:ea typeface="Microsoft Sans Serif" pitchFamily="34" charset="0"/>
              <a:cs typeface="Times New Roman" pitchFamily="18" charset="0"/>
            </a:endParaRPr>
          </a:p>
          <a:p>
            <a:pPr indent="-457200" eaLnBrk="1" hangingPunct="1">
              <a:lnSpc>
                <a:spcPct val="60000"/>
              </a:lnSpc>
            </a:pPr>
            <a:r>
              <a:rPr lang="en-US" altLang="en-US" sz="1800" b="1" dirty="0" smtClean="0">
                <a:latin typeface="Times New Roman" pitchFamily="18" charset="0"/>
                <a:ea typeface="Microsoft Sans Serif" pitchFamily="34" charset="0"/>
                <a:cs typeface="Times New Roman" pitchFamily="18" charset="0"/>
              </a:rPr>
              <a:t>Embedded C / </a:t>
            </a:r>
            <a:r>
              <a:rPr lang="en-US" altLang="en-US" sz="1800" b="1" dirty="0" err="1" smtClean="0">
                <a:latin typeface="Times New Roman" pitchFamily="18" charset="0"/>
                <a:ea typeface="Microsoft Sans Serif" pitchFamily="34" charset="0"/>
                <a:cs typeface="Times New Roman" pitchFamily="18" charset="0"/>
              </a:rPr>
              <a:t>Arduino</a:t>
            </a:r>
            <a:r>
              <a:rPr lang="en-US" altLang="en-US" sz="1800" b="1" dirty="0" smtClean="0">
                <a:latin typeface="Times New Roman" pitchFamily="18" charset="0"/>
                <a:ea typeface="Microsoft Sans Serif" pitchFamily="34" charset="0"/>
                <a:cs typeface="Times New Roman" pitchFamily="18" charset="0"/>
              </a:rPr>
              <a:t> Programming Language</a:t>
            </a:r>
            <a:r>
              <a:rPr lang="en-US" altLang="en-US" sz="1800" dirty="0" smtClean="0">
                <a:latin typeface="Times New Roman" pitchFamily="18" charset="0"/>
                <a:ea typeface="Microsoft Sans Serif" pitchFamily="34" charset="0"/>
                <a:cs typeface="Times New Roman" pitchFamily="18" charset="0"/>
              </a:rPr>
              <a:t/>
            </a:r>
            <a:br>
              <a:rPr lang="en-US" altLang="en-US" sz="1800" dirty="0" smtClean="0">
                <a:latin typeface="Times New Roman" pitchFamily="18" charset="0"/>
                <a:ea typeface="Microsoft Sans Serif" pitchFamily="34" charset="0"/>
                <a:cs typeface="Times New Roman" pitchFamily="18" charset="0"/>
              </a:rPr>
            </a:br>
            <a:endParaRPr lang="en-US" altLang="en-US" sz="1800" dirty="0" smtClean="0">
              <a:latin typeface="Times New Roman" pitchFamily="18" charset="0"/>
              <a:ea typeface="Microsoft Sans Serif" pitchFamily="34" charset="0"/>
              <a:cs typeface="Times New Roman" pitchFamily="18" charset="0"/>
            </a:endParaRPr>
          </a:p>
          <a:p>
            <a:pPr indent="-457200" eaLnBrk="1" hangingPunct="1">
              <a:lnSpc>
                <a:spcPct val="60000"/>
              </a:lnSpc>
            </a:pPr>
            <a:r>
              <a:rPr lang="en-US" altLang="en-US" sz="1800" b="1" dirty="0" smtClean="0">
                <a:latin typeface="Times New Roman" pitchFamily="18" charset="0"/>
                <a:ea typeface="Microsoft Sans Serif" pitchFamily="34" charset="0"/>
                <a:cs typeface="Times New Roman" pitchFamily="18" charset="0"/>
              </a:rPr>
              <a:t>Windows OS / Linux OS</a:t>
            </a:r>
            <a:r>
              <a:rPr lang="en-US" altLang="en-US" sz="1800" dirty="0" smtClean="0">
                <a:latin typeface="Times New Roman" pitchFamily="18" charset="0"/>
                <a:ea typeface="Microsoft Sans Serif" pitchFamily="34" charset="0"/>
                <a:cs typeface="Times New Roman" pitchFamily="18" charset="0"/>
              </a:rPr>
              <a:t/>
            </a:r>
            <a:br>
              <a:rPr lang="en-US" altLang="en-US" sz="1800" dirty="0" smtClean="0">
                <a:latin typeface="Times New Roman" pitchFamily="18" charset="0"/>
                <a:ea typeface="Microsoft Sans Serif" pitchFamily="34" charset="0"/>
                <a:cs typeface="Times New Roman" pitchFamily="18" charset="0"/>
              </a:rPr>
            </a:br>
            <a:r>
              <a:rPr lang="en-US" altLang="en-US" sz="1800" dirty="0" smtClean="0">
                <a:latin typeface="Times New Roman" pitchFamily="18" charset="0"/>
                <a:ea typeface="Microsoft Sans Serif" pitchFamily="34" charset="0"/>
                <a:cs typeface="Times New Roman" pitchFamily="18" charset="0"/>
              </a:rPr>
              <a:t>Required to run the </a:t>
            </a:r>
            <a:r>
              <a:rPr lang="en-US" altLang="en-US" sz="1800" dirty="0" err="1" smtClean="0">
                <a:latin typeface="Times New Roman" pitchFamily="18" charset="0"/>
                <a:ea typeface="Microsoft Sans Serif" pitchFamily="34" charset="0"/>
                <a:cs typeface="Times New Roman" pitchFamily="18" charset="0"/>
              </a:rPr>
              <a:t>Arduino</a:t>
            </a:r>
            <a:r>
              <a:rPr lang="en-US" altLang="en-US" sz="1800" dirty="0" smtClean="0">
                <a:latin typeface="Times New Roman" pitchFamily="18" charset="0"/>
                <a:ea typeface="Microsoft Sans Serif" pitchFamily="34" charset="0"/>
                <a:cs typeface="Times New Roman" pitchFamily="18" charset="0"/>
              </a:rPr>
              <a:t> IDE</a:t>
            </a:r>
            <a:endParaRPr lang="en-IN" altLang="en-US" sz="1800" dirty="0" smtClean="0">
              <a:latin typeface="Times New Roman" pitchFamily="18" charset="0"/>
              <a:ea typeface="Microsoft Sans Serif" pitchFamily="34" charset="0"/>
              <a:cs typeface="Times New Roman" pitchFamily="18" charset="0"/>
            </a:endParaRPr>
          </a:p>
          <a:p>
            <a:endParaRPr lang="en-US" sz="1800" dirty="0"/>
          </a:p>
        </p:txBody>
      </p:sp>
      <p:sp>
        <p:nvSpPr>
          <p:cNvPr id="3" name="Title 2"/>
          <p:cNvSpPr>
            <a:spLocks noGrp="1"/>
          </p:cNvSpPr>
          <p:nvPr>
            <p:ph type="title"/>
          </p:nvPr>
        </p:nvSpPr>
        <p:spPr>
          <a:xfrm>
            <a:off x="1219200" y="274638"/>
            <a:ext cx="10363200" cy="914082"/>
          </a:xfrm>
        </p:spPr>
        <p:txBody>
          <a:bodyPr/>
          <a:lstStyle/>
          <a:p>
            <a:pPr algn="ctr"/>
            <a:r>
              <a:rPr lang="en-US" dirty="0" smtClean="0">
                <a:solidFill>
                  <a:srgbClr val="0E58C4"/>
                </a:solidFill>
                <a:latin typeface="Times New Roman" pitchFamily="18" charset="0"/>
                <a:ea typeface="Microsoft Sans Serif" pitchFamily="34" charset="0"/>
                <a:cs typeface="Times New Roman" pitchFamily="18" charset="0"/>
              </a:rPr>
              <a:t>Hardware &amp; Software Involved</a:t>
            </a:r>
            <a:endParaRPr lang="en-US" dirty="0"/>
          </a:p>
        </p:txBody>
      </p:sp>
      <p:sp>
        <p:nvSpPr>
          <p:cNvPr id="4" name="Slide Number Placeholder 3"/>
          <p:cNvSpPr>
            <a:spLocks noGrp="1"/>
          </p:cNvSpPr>
          <p:nvPr>
            <p:ph type="sldNum" sz="quarter" idx="12"/>
          </p:nvPr>
        </p:nvSpPr>
        <p:spPr/>
        <p:txBody>
          <a:bodyPr/>
          <a:lstStyle/>
          <a:p>
            <a:fld id="{AB24CF10-D076-4E64-B53E-8C8CA0F3F421}" type="slidenum">
              <a:rPr lang="en-US" altLang="en-US" smtClean="0"/>
              <a:pPr/>
              <a:t>16</a:t>
            </a:fld>
            <a:endParaRPr lang="en-US" alt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F956BB7-52AA-492A-A4CC-FE3B7326E895}" type="slidenum">
              <a:rPr lang="en-US" altLang="en-US"/>
              <a:pPr/>
              <a:t>17</a:t>
            </a:fld>
            <a:endParaRPr lang="en-US" altLang="en-US"/>
          </a:p>
        </p:txBody>
      </p:sp>
      <p:sp>
        <p:nvSpPr>
          <p:cNvPr id="6" name="Title 5"/>
          <p:cNvSpPr>
            <a:spLocks noGrp="1"/>
          </p:cNvSpPr>
          <p:nvPr>
            <p:ph type="title"/>
          </p:nvPr>
        </p:nvSpPr>
        <p:spPr>
          <a:xfrm>
            <a:off x="1219200" y="326570"/>
            <a:ext cx="10363200" cy="692333"/>
          </a:xfrm>
        </p:spPr>
        <p:txBody>
          <a:bodyPr>
            <a:normAutofit fontScale="90000"/>
          </a:bodyPr>
          <a:lstStyle/>
          <a:p>
            <a:pPr algn="ctr" eaLnBrk="1" hangingPunct="1"/>
            <a:r>
              <a:rPr lang="en-US" dirty="0" smtClean="0">
                <a:solidFill>
                  <a:srgbClr val="0E58C4"/>
                </a:solidFill>
                <a:latin typeface="Times New Roman" pitchFamily="18" charset="0"/>
                <a:ea typeface="Microsoft Sans Serif" pitchFamily="34" charset="0"/>
                <a:cs typeface="Times New Roman" pitchFamily="18" charset="0"/>
              </a:rPr>
              <a:t>Application &amp; Advantages</a:t>
            </a:r>
            <a:endParaRPr lang="en-IN" dirty="0" smtClean="0">
              <a:solidFill>
                <a:srgbClr val="0E58C4"/>
              </a:solidFill>
              <a:latin typeface="Times New Roman" pitchFamily="18" charset="0"/>
              <a:ea typeface="Microsoft Sans Serif" pitchFamily="34" charset="0"/>
              <a:cs typeface="Times New Roman" pitchFamily="18" charset="0"/>
            </a:endParaRPr>
          </a:p>
        </p:txBody>
      </p:sp>
      <p:sp>
        <p:nvSpPr>
          <p:cNvPr id="27652" name="Content Placeholder 2"/>
          <p:cNvSpPr txBox="1">
            <a:spLocks noChangeArrowheads="1"/>
          </p:cNvSpPr>
          <p:nvPr/>
        </p:nvSpPr>
        <p:spPr bwMode="auto">
          <a:xfrm>
            <a:off x="723900" y="1045029"/>
            <a:ext cx="11010900" cy="5395459"/>
          </a:xfrm>
          <a:prstGeom prst="rect">
            <a:avLst/>
          </a:prstGeom>
          <a:noFill/>
          <a:ln w="9525">
            <a:noFill/>
            <a:miter lim="800000"/>
            <a:headEnd/>
            <a:tailEnd/>
          </a:ln>
        </p:spPr>
        <p:txBody>
          <a:bodyPr/>
          <a:lstStyle/>
          <a:p>
            <a:pPr marL="273050" indent="-457200" eaLnBrk="1" hangingPunct="1">
              <a:lnSpc>
                <a:spcPct val="80000"/>
              </a:lnSpc>
              <a:spcBef>
                <a:spcPts val="575"/>
              </a:spcBef>
              <a:buClr>
                <a:schemeClr val="accent1"/>
              </a:buClr>
              <a:buSzPct val="85000"/>
              <a:buFont typeface="Wingdings" pitchFamily="2" charset="2"/>
              <a:buChar char="q"/>
            </a:pPr>
            <a:endParaRPr lang="en-IN" altLang="en-US" sz="1100" dirty="0">
              <a:solidFill>
                <a:srgbClr val="000000"/>
              </a:solidFill>
              <a:latin typeface="Times New Roman" pitchFamily="18" charset="0"/>
              <a:ea typeface="Microsoft Sans Serif" pitchFamily="34" charset="0"/>
              <a:cs typeface="Times New Roman" pitchFamily="18" charset="0"/>
            </a:endParaRPr>
          </a:p>
          <a:p>
            <a:pPr marL="273050" indent="-457200" eaLnBrk="1" hangingPunct="1">
              <a:lnSpc>
                <a:spcPct val="80000"/>
              </a:lnSpc>
              <a:spcBef>
                <a:spcPts val="575"/>
              </a:spcBef>
              <a:buClr>
                <a:schemeClr val="accent1"/>
              </a:buClr>
              <a:buSzPct val="85000"/>
              <a:buFont typeface="Wingdings 2" pitchFamily="18" charset="2"/>
              <a:buNone/>
            </a:pPr>
            <a:r>
              <a:rPr lang="en-US" altLang="en-US" b="1" dirty="0">
                <a:latin typeface="Times New Roman" pitchFamily="18" charset="0"/>
                <a:ea typeface="Microsoft Sans Serif" pitchFamily="34" charset="0"/>
                <a:cs typeface="Times New Roman" pitchFamily="18" charset="0"/>
              </a:rPr>
              <a:t>Applications</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Used in </a:t>
            </a:r>
            <a:r>
              <a:rPr lang="en-US" altLang="en-US" b="1" dirty="0">
                <a:latin typeface="Times New Roman" pitchFamily="18" charset="0"/>
                <a:ea typeface="Microsoft Sans Serif" pitchFamily="34" charset="0"/>
                <a:cs typeface="Times New Roman" pitchFamily="18" charset="0"/>
              </a:rPr>
              <a:t>homes</a:t>
            </a:r>
            <a:r>
              <a:rPr lang="en-US" altLang="en-US" dirty="0">
                <a:latin typeface="Times New Roman" pitchFamily="18" charset="0"/>
                <a:ea typeface="Microsoft Sans Serif" pitchFamily="34" charset="0"/>
                <a:cs typeface="Times New Roman" pitchFamily="18" charset="0"/>
              </a:rPr>
              <a:t> for hygienic waste segregation.</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Implemented in </a:t>
            </a:r>
            <a:r>
              <a:rPr lang="en-US" altLang="en-US" b="1" dirty="0">
                <a:latin typeface="Times New Roman" pitchFamily="18" charset="0"/>
                <a:ea typeface="Microsoft Sans Serif" pitchFamily="34" charset="0"/>
                <a:cs typeface="Times New Roman" pitchFamily="18" charset="0"/>
              </a:rPr>
              <a:t>schools and colleges</a:t>
            </a:r>
            <a:r>
              <a:rPr lang="en-US" altLang="en-US" dirty="0">
                <a:latin typeface="Times New Roman" pitchFamily="18" charset="0"/>
                <a:ea typeface="Microsoft Sans Serif" pitchFamily="34" charset="0"/>
                <a:cs typeface="Times New Roman" pitchFamily="18" charset="0"/>
              </a:rPr>
              <a:t> to promote cleanliness awareness.</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Suitable for </a:t>
            </a:r>
            <a:r>
              <a:rPr lang="en-US" altLang="en-US" b="1" dirty="0">
                <a:latin typeface="Times New Roman" pitchFamily="18" charset="0"/>
                <a:ea typeface="Microsoft Sans Serif" pitchFamily="34" charset="0"/>
                <a:cs typeface="Times New Roman" pitchFamily="18" charset="0"/>
              </a:rPr>
              <a:t>offices and corporate buildings</a:t>
            </a:r>
            <a:r>
              <a:rPr lang="en-US" altLang="en-US" dirty="0">
                <a:latin typeface="Times New Roman" pitchFamily="18" charset="0"/>
                <a:ea typeface="Microsoft Sans Serif" pitchFamily="34" charset="0"/>
                <a:cs typeface="Times New Roman" pitchFamily="18" charset="0"/>
              </a:rPr>
              <a:t>.</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Used in </a:t>
            </a:r>
            <a:r>
              <a:rPr lang="en-US" altLang="en-US" b="1" dirty="0">
                <a:latin typeface="Times New Roman" pitchFamily="18" charset="0"/>
                <a:ea typeface="Microsoft Sans Serif" pitchFamily="34" charset="0"/>
                <a:cs typeface="Times New Roman" pitchFamily="18" charset="0"/>
              </a:rPr>
              <a:t>public places</a:t>
            </a:r>
            <a:r>
              <a:rPr lang="en-US" altLang="en-US" dirty="0">
                <a:latin typeface="Times New Roman" pitchFamily="18" charset="0"/>
                <a:ea typeface="Microsoft Sans Serif" pitchFamily="34" charset="0"/>
                <a:cs typeface="Times New Roman" pitchFamily="18" charset="0"/>
              </a:rPr>
              <a:t> such as bus stands, railway stations, and parks.</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Applied in </a:t>
            </a:r>
            <a:r>
              <a:rPr lang="en-US" altLang="en-US" b="1" dirty="0">
                <a:latin typeface="Times New Roman" pitchFamily="18" charset="0"/>
                <a:ea typeface="Microsoft Sans Serif" pitchFamily="34" charset="0"/>
                <a:cs typeface="Times New Roman" pitchFamily="18" charset="0"/>
              </a:rPr>
              <a:t>hospitals</a:t>
            </a:r>
            <a:r>
              <a:rPr lang="en-US" altLang="en-US" dirty="0">
                <a:latin typeface="Times New Roman" pitchFamily="18" charset="0"/>
                <a:ea typeface="Microsoft Sans Serif" pitchFamily="34" charset="0"/>
                <a:cs typeface="Times New Roman" pitchFamily="18" charset="0"/>
              </a:rPr>
              <a:t> to maintain hygiene.</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Useful in </a:t>
            </a:r>
            <a:r>
              <a:rPr lang="en-US" altLang="en-US" b="1" dirty="0">
                <a:latin typeface="Times New Roman" pitchFamily="18" charset="0"/>
                <a:ea typeface="Microsoft Sans Serif" pitchFamily="34" charset="0"/>
                <a:cs typeface="Times New Roman" pitchFamily="18" charset="0"/>
              </a:rPr>
              <a:t>smart cities</a:t>
            </a:r>
            <a:r>
              <a:rPr lang="en-US" altLang="en-US" dirty="0">
                <a:latin typeface="Times New Roman" pitchFamily="18" charset="0"/>
                <a:ea typeface="Microsoft Sans Serif" pitchFamily="34" charset="0"/>
                <a:cs typeface="Times New Roman" pitchFamily="18" charset="0"/>
              </a:rPr>
              <a:t> and municipal waste management systems.</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Helps in </a:t>
            </a:r>
            <a:r>
              <a:rPr lang="en-US" altLang="en-US" b="1" dirty="0">
                <a:latin typeface="Times New Roman" pitchFamily="18" charset="0"/>
                <a:ea typeface="Microsoft Sans Serif" pitchFamily="34" charset="0"/>
                <a:cs typeface="Times New Roman" pitchFamily="18" charset="0"/>
              </a:rPr>
              <a:t>recycling plants</a:t>
            </a:r>
            <a:r>
              <a:rPr lang="en-US" altLang="en-US" dirty="0">
                <a:latin typeface="Times New Roman" pitchFamily="18" charset="0"/>
                <a:ea typeface="Microsoft Sans Serif" pitchFamily="34" charset="0"/>
                <a:cs typeface="Times New Roman" pitchFamily="18" charset="0"/>
              </a:rPr>
              <a:t> by segregating waste at the source.</a:t>
            </a:r>
          </a:p>
          <a:p>
            <a:pPr marL="273050" indent="-457200" eaLnBrk="1" hangingPunct="1">
              <a:lnSpc>
                <a:spcPct val="80000"/>
              </a:lnSpc>
              <a:spcBef>
                <a:spcPts val="575"/>
              </a:spcBef>
              <a:buClr>
                <a:schemeClr val="accent1"/>
              </a:buClr>
              <a:buSzPct val="85000"/>
              <a:buFont typeface="Wingdings 2" pitchFamily="18" charset="2"/>
              <a:buNone/>
            </a:pPr>
            <a:r>
              <a:rPr lang="en-US" altLang="en-US" b="1" dirty="0" smtClean="0">
                <a:latin typeface="Times New Roman" pitchFamily="18" charset="0"/>
                <a:ea typeface="Microsoft Sans Serif" pitchFamily="34" charset="0"/>
                <a:cs typeface="Times New Roman" pitchFamily="18" charset="0"/>
              </a:rPr>
              <a:t>Advantages</a:t>
            </a:r>
            <a:endParaRPr lang="en-US" altLang="en-US" b="1" dirty="0">
              <a:latin typeface="Times New Roman" pitchFamily="18" charset="0"/>
              <a:ea typeface="Microsoft Sans Serif" pitchFamily="34" charset="0"/>
              <a:cs typeface="Times New Roman" pitchFamily="18" charset="0"/>
            </a:endParaRP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Automatically segregates </a:t>
            </a:r>
            <a:r>
              <a:rPr lang="en-US" altLang="en-US" b="1" dirty="0">
                <a:latin typeface="Times New Roman" pitchFamily="18" charset="0"/>
                <a:ea typeface="Microsoft Sans Serif" pitchFamily="34" charset="0"/>
                <a:cs typeface="Times New Roman" pitchFamily="18" charset="0"/>
              </a:rPr>
              <a:t>dry and wet waste</a:t>
            </a:r>
            <a:r>
              <a:rPr lang="en-US" altLang="en-US" dirty="0">
                <a:latin typeface="Times New Roman" pitchFamily="18" charset="0"/>
                <a:ea typeface="Microsoft Sans Serif" pitchFamily="34" charset="0"/>
                <a:cs typeface="Times New Roman" pitchFamily="18" charset="0"/>
              </a:rPr>
              <a:t>.</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Reduces </a:t>
            </a:r>
            <a:r>
              <a:rPr lang="en-US" altLang="en-US" b="1" dirty="0">
                <a:latin typeface="Times New Roman" pitchFamily="18" charset="0"/>
                <a:ea typeface="Microsoft Sans Serif" pitchFamily="34" charset="0"/>
                <a:cs typeface="Times New Roman" pitchFamily="18" charset="0"/>
              </a:rPr>
              <a:t>manual effort</a:t>
            </a:r>
            <a:r>
              <a:rPr lang="en-US" altLang="en-US" dirty="0">
                <a:latin typeface="Times New Roman" pitchFamily="18" charset="0"/>
                <a:ea typeface="Microsoft Sans Serif" pitchFamily="34" charset="0"/>
                <a:cs typeface="Times New Roman" pitchFamily="18" charset="0"/>
              </a:rPr>
              <a:t> and human contact with waste.</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Improves </a:t>
            </a:r>
            <a:r>
              <a:rPr lang="en-US" altLang="en-US" b="1" dirty="0">
                <a:latin typeface="Times New Roman" pitchFamily="18" charset="0"/>
                <a:ea typeface="Microsoft Sans Serif" pitchFamily="34" charset="0"/>
                <a:cs typeface="Times New Roman" pitchFamily="18" charset="0"/>
              </a:rPr>
              <a:t>hygiene and cleanliness</a:t>
            </a:r>
            <a:r>
              <a:rPr lang="en-US" altLang="en-US" dirty="0">
                <a:latin typeface="Times New Roman" pitchFamily="18" charset="0"/>
                <a:ea typeface="Microsoft Sans Serif" pitchFamily="34" charset="0"/>
                <a:cs typeface="Times New Roman" pitchFamily="18" charset="0"/>
              </a:rPr>
              <a:t>.</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Saves </a:t>
            </a:r>
            <a:r>
              <a:rPr lang="en-US" altLang="en-US" b="1" dirty="0">
                <a:latin typeface="Times New Roman" pitchFamily="18" charset="0"/>
                <a:ea typeface="Microsoft Sans Serif" pitchFamily="34" charset="0"/>
                <a:cs typeface="Times New Roman" pitchFamily="18" charset="0"/>
              </a:rPr>
              <a:t>time and labor cost</a:t>
            </a:r>
            <a:r>
              <a:rPr lang="en-US" altLang="en-US" dirty="0">
                <a:latin typeface="Times New Roman" pitchFamily="18" charset="0"/>
                <a:ea typeface="Microsoft Sans Serif" pitchFamily="34" charset="0"/>
                <a:cs typeface="Times New Roman" pitchFamily="18" charset="0"/>
              </a:rPr>
              <a:t>.</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Helps in efficient </a:t>
            </a:r>
            <a:r>
              <a:rPr lang="en-US" altLang="en-US" b="1" dirty="0">
                <a:latin typeface="Times New Roman" pitchFamily="18" charset="0"/>
                <a:ea typeface="Microsoft Sans Serif" pitchFamily="34" charset="0"/>
                <a:cs typeface="Times New Roman" pitchFamily="18" charset="0"/>
              </a:rPr>
              <a:t>recycling and waste management</a:t>
            </a:r>
            <a:r>
              <a:rPr lang="en-US" altLang="en-US" dirty="0">
                <a:latin typeface="Times New Roman" pitchFamily="18" charset="0"/>
                <a:ea typeface="Microsoft Sans Serif" pitchFamily="34" charset="0"/>
                <a:cs typeface="Times New Roman" pitchFamily="18" charset="0"/>
              </a:rPr>
              <a:t>.</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Reduces </a:t>
            </a:r>
            <a:r>
              <a:rPr lang="en-US" altLang="en-US" b="1" dirty="0">
                <a:latin typeface="Times New Roman" pitchFamily="18" charset="0"/>
                <a:ea typeface="Microsoft Sans Serif" pitchFamily="34" charset="0"/>
                <a:cs typeface="Times New Roman" pitchFamily="18" charset="0"/>
              </a:rPr>
              <a:t>environmental pollution</a:t>
            </a:r>
            <a:r>
              <a:rPr lang="en-US" altLang="en-US" dirty="0">
                <a:latin typeface="Times New Roman" pitchFamily="18" charset="0"/>
                <a:ea typeface="Microsoft Sans Serif" pitchFamily="34" charset="0"/>
                <a:cs typeface="Times New Roman" pitchFamily="18" charset="0"/>
              </a:rPr>
              <a:t>.</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Easy to use and </a:t>
            </a:r>
            <a:r>
              <a:rPr lang="en-US" altLang="en-US" b="1" dirty="0">
                <a:latin typeface="Times New Roman" pitchFamily="18" charset="0"/>
                <a:ea typeface="Microsoft Sans Serif" pitchFamily="34" charset="0"/>
                <a:cs typeface="Times New Roman" pitchFamily="18" charset="0"/>
              </a:rPr>
              <a:t>user-friendly</a:t>
            </a:r>
            <a:r>
              <a:rPr lang="en-US" altLang="en-US" dirty="0">
                <a:latin typeface="Times New Roman" pitchFamily="18" charset="0"/>
                <a:ea typeface="Microsoft Sans Serif" pitchFamily="34" charset="0"/>
                <a:cs typeface="Times New Roman" pitchFamily="18" charset="0"/>
              </a:rPr>
              <a:t>.</a:t>
            </a:r>
          </a:p>
          <a:p>
            <a:pPr marL="273050" indent="-457200" eaLnBrk="1" hangingPunct="1">
              <a:lnSpc>
                <a:spcPct val="80000"/>
              </a:lnSpc>
              <a:spcBef>
                <a:spcPts val="575"/>
              </a:spcBef>
              <a:buClr>
                <a:schemeClr val="accent1"/>
              </a:buClr>
              <a:buSzPct val="85000"/>
              <a:buFont typeface="Century Gothic" pitchFamily="34" charset="0"/>
              <a:buAutoNum type="arabicPeriod"/>
            </a:pPr>
            <a:r>
              <a:rPr lang="en-US" altLang="en-US" dirty="0">
                <a:latin typeface="Times New Roman" pitchFamily="18" charset="0"/>
                <a:ea typeface="Microsoft Sans Serif" pitchFamily="34" charset="0"/>
                <a:cs typeface="Times New Roman" pitchFamily="18" charset="0"/>
              </a:rPr>
              <a:t>Cost-effective and reliable system.</a:t>
            </a:r>
          </a:p>
        </p:txBody>
      </p:sp>
      <p:pic>
        <p:nvPicPr>
          <p:cNvPr id="27653" name="Picture 1"/>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Content Placeholder 3"/>
          <p:cNvPicPr>
            <a:picLocks noGrp="1" noChangeAspect="1" noChangeArrowheads="1"/>
          </p:cNvPicPr>
          <p:nvPr>
            <p:ph sz="quarter" idx="1"/>
          </p:nvPr>
        </p:nvPicPr>
        <p:blipFill>
          <a:blip r:embed="rId2" cstate="print"/>
          <a:srcRect/>
          <a:stretch>
            <a:fillRect/>
          </a:stretch>
        </p:blipFill>
        <p:spPr>
          <a:xfrm>
            <a:off x="3484563" y="877888"/>
            <a:ext cx="3657600" cy="5486400"/>
          </a:xfrm>
        </p:spPr>
      </p:pic>
      <p:sp>
        <p:nvSpPr>
          <p:cNvPr id="3" name="Title 2"/>
          <p:cNvSpPr>
            <a:spLocks noGrp="1"/>
          </p:cNvSpPr>
          <p:nvPr>
            <p:ph type="title"/>
          </p:nvPr>
        </p:nvSpPr>
        <p:spPr>
          <a:xfrm>
            <a:off x="195263" y="-2138363"/>
            <a:ext cx="11663362" cy="2847976"/>
          </a:xfrm>
        </p:spPr>
        <p:txBody>
          <a:bodyPr/>
          <a:lstStyle/>
          <a:p>
            <a:pPr algn="ctr" eaLnBrk="1" fontAlgn="auto" hangingPunct="1">
              <a:spcAft>
                <a:spcPts val="0"/>
              </a:spcAft>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System Architecture/Proposed work Block</a:t>
            </a:r>
          </a:p>
        </p:txBody>
      </p:sp>
      <p:sp>
        <p:nvSpPr>
          <p:cNvPr id="6" name="Slide Number Placeholder 5"/>
          <p:cNvSpPr>
            <a:spLocks noGrp="1"/>
          </p:cNvSpPr>
          <p:nvPr>
            <p:ph type="sldNum" sz="quarter" idx="12"/>
          </p:nvPr>
        </p:nvSpPr>
        <p:spPr/>
        <p:txBody>
          <a:bodyPr/>
          <a:lstStyle/>
          <a:p>
            <a:fld id="{6CE1461E-B0B6-4C24-9727-975DBDFA1C62}" type="slidenum">
              <a:rPr lang="en-US" altLang="en-US"/>
              <a:pPr/>
              <a:t>18</a:t>
            </a:fld>
            <a:endParaRPr lang="en-US" altLang="en-US"/>
          </a:p>
        </p:txBody>
      </p:sp>
      <p:sp>
        <p:nvSpPr>
          <p:cNvPr id="28677" name="Rectangle 7"/>
          <p:cNvSpPr>
            <a:spLocks noChangeArrowheads="1"/>
          </p:cNvSpPr>
          <p:nvPr/>
        </p:nvSpPr>
        <p:spPr bwMode="auto">
          <a:xfrm>
            <a:off x="0" y="239713"/>
            <a:ext cx="184150" cy="923925"/>
          </a:xfrm>
          <a:prstGeom prst="rect">
            <a:avLst/>
          </a:prstGeom>
          <a:noFill/>
          <a:ln w="9525">
            <a:noFill/>
            <a:miter lim="800000"/>
            <a:headEnd/>
            <a:tailEnd/>
          </a:ln>
          <a:effectLst/>
        </p:spPr>
        <p:txBody>
          <a:bodyPr wrap="none" anchor="ctr">
            <a:spAutoFit/>
          </a:bodyPr>
          <a:lstStyle/>
          <a:p>
            <a:r>
              <a:rPr lang="en-US" altLang="en-US"/>
              <a:t/>
            </a:r>
            <a:br>
              <a:rPr lang="en-US" altLang="en-US"/>
            </a:br>
            <a:endParaRPr lang="en-US" altLang="en-US"/>
          </a:p>
          <a:p>
            <a:endParaRPr lang="en-US" altLang="en-US"/>
          </a:p>
        </p:txBody>
      </p:sp>
    </p:spTree>
  </p:cSld>
  <p:clrMapOvr>
    <a:masterClrMapping/>
  </p:clrMapOvr>
  <p:transition spd="med">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Content Placeholder 3"/>
          <p:cNvPicPr>
            <a:picLocks noGrp="1" noChangeAspect="1" noChangeArrowheads="1"/>
          </p:cNvPicPr>
          <p:nvPr>
            <p:ph sz="quarter" idx="1"/>
          </p:nvPr>
        </p:nvPicPr>
        <p:blipFill>
          <a:blip r:embed="rId2"/>
          <a:srcRect/>
          <a:stretch>
            <a:fillRect/>
          </a:stretch>
        </p:blipFill>
        <p:spPr>
          <a:xfrm>
            <a:off x="1439863" y="1719263"/>
            <a:ext cx="8666162" cy="4768850"/>
          </a:xfrm>
        </p:spPr>
      </p:pic>
      <p:sp>
        <p:nvSpPr>
          <p:cNvPr id="3" name="Title 2"/>
          <p:cNvSpPr>
            <a:spLocks noGrp="1"/>
          </p:cNvSpPr>
          <p:nvPr>
            <p:ph type="title"/>
          </p:nvPr>
        </p:nvSpPr>
        <p:spPr/>
        <p:txBody>
          <a:bodyPr/>
          <a:lstStyle/>
          <a:p>
            <a:pPr algn="ctr" eaLnBrk="1" fontAlgn="auto" hangingPunct="1">
              <a:spcAft>
                <a:spcPts val="0"/>
              </a:spcAft>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UML Diagrams (CSE &amp; Allied)/DFD CSE &amp; Allied / Prototype (others)</a:t>
            </a:r>
          </a:p>
        </p:txBody>
      </p:sp>
      <p:sp>
        <p:nvSpPr>
          <p:cNvPr id="6" name="Slide Number Placeholder 5"/>
          <p:cNvSpPr>
            <a:spLocks noGrp="1"/>
          </p:cNvSpPr>
          <p:nvPr>
            <p:ph type="sldNum" sz="quarter" idx="12"/>
          </p:nvPr>
        </p:nvSpPr>
        <p:spPr/>
        <p:txBody>
          <a:bodyPr/>
          <a:lstStyle/>
          <a:p>
            <a:fld id="{FD429079-D7EF-4819-8C2A-1E27226C6A62}" type="slidenum">
              <a:rPr lang="en-US" altLang="en-US"/>
              <a:pPr/>
              <a:t>19</a:t>
            </a:fld>
            <a:endParaRPr lang="en-US" alt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fld id="{0E976185-9196-4075-961D-6EEDB209658A}" type="slidenum">
              <a:rPr lang="en-US" altLang="en-US"/>
              <a:pPr/>
              <a:t>20</a:t>
            </a:fld>
            <a:endParaRPr lang="en-US" altLang="en-US"/>
          </a:p>
        </p:txBody>
      </p:sp>
      <p:sp>
        <p:nvSpPr>
          <p:cNvPr id="3" name="Content Placeholder 2"/>
          <p:cNvSpPr>
            <a:spLocks noGrp="1"/>
          </p:cNvSpPr>
          <p:nvPr>
            <p:ph sz="quarter" idx="1"/>
          </p:nvPr>
        </p:nvSpPr>
        <p:spPr>
          <a:xfrm>
            <a:off x="722313" y="1439863"/>
            <a:ext cx="11468100" cy="5003800"/>
          </a:xfrm>
        </p:spPr>
        <p:txBody>
          <a:bodyPr>
            <a:normAutofit/>
          </a:bodyPr>
          <a:lstStyle/>
          <a:p>
            <a:pPr marL="0" indent="0" eaLnBrk="1" hangingPunct="1">
              <a:lnSpc>
                <a:spcPct val="110000"/>
              </a:lnSpc>
              <a:spcBef>
                <a:spcPts val="200"/>
              </a:spcBef>
              <a:spcAft>
                <a:spcPts val="200"/>
              </a:spcAft>
              <a:buFont typeface="Wingdings 2" pitchFamily="18" charset="2"/>
              <a:buNone/>
            </a:pPr>
            <a:endParaRPr lang="en-IN" sz="1700" dirty="0" smtClean="0">
              <a:solidFill>
                <a:srgbClr val="004376"/>
              </a:solidFill>
            </a:endParaRPr>
          </a:p>
          <a:p>
            <a:pPr marL="0" indent="0" eaLnBrk="1" hangingPunct="1"/>
            <a:endParaRPr lang="en-IN" dirty="0" smtClean="0"/>
          </a:p>
        </p:txBody>
      </p:sp>
      <p:sp>
        <p:nvSpPr>
          <p:cNvPr id="7" name="Title 1"/>
          <p:cNvSpPr>
            <a:spLocks noGrp="1"/>
          </p:cNvSpPr>
          <p:nvPr>
            <p:ph type="title"/>
          </p:nvPr>
        </p:nvSpPr>
        <p:spPr>
          <a:xfrm>
            <a:off x="361950" y="360363"/>
            <a:ext cx="11550650" cy="10668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References (APA Style)</a:t>
            </a:r>
          </a:p>
        </p:txBody>
      </p:sp>
      <p:sp>
        <p:nvSpPr>
          <p:cNvPr id="30725" name="Rectangle 3"/>
          <p:cNvSpPr>
            <a:spLocks noChangeArrowheads="1"/>
          </p:cNvSpPr>
          <p:nvPr/>
        </p:nvSpPr>
        <p:spPr bwMode="auto">
          <a:xfrm>
            <a:off x="804863" y="1427163"/>
            <a:ext cx="10520362" cy="3349956"/>
          </a:xfrm>
          <a:prstGeom prst="rect">
            <a:avLst/>
          </a:prstGeom>
          <a:noFill/>
          <a:ln w="9525">
            <a:noFill/>
            <a:miter lim="800000"/>
            <a:headEnd/>
            <a:tailEnd/>
          </a:ln>
        </p:spPr>
        <p:txBody>
          <a:bodyPr>
            <a:spAutoFit/>
          </a:bodyPr>
          <a:lstStyle/>
          <a:p>
            <a:r>
              <a:rPr lang="en-IN" altLang="en-US" dirty="0" err="1">
                <a:latin typeface="Times New Roman" pitchFamily="18" charset="0"/>
                <a:cs typeface="Times New Roman" pitchFamily="18" charset="0"/>
              </a:rPr>
              <a:t>Arduino</a:t>
            </a:r>
            <a:r>
              <a:rPr lang="en-IN" altLang="en-US" dirty="0">
                <a:latin typeface="Times New Roman" pitchFamily="18" charset="0"/>
                <a:cs typeface="Times New Roman" pitchFamily="18" charset="0"/>
              </a:rPr>
              <a:t>. (2023). </a:t>
            </a:r>
            <a:r>
              <a:rPr lang="en-IN" altLang="en-US" i="1" dirty="0" err="1">
                <a:latin typeface="Times New Roman" pitchFamily="18" charset="0"/>
                <a:cs typeface="Times New Roman" pitchFamily="18" charset="0"/>
              </a:rPr>
              <a:t>Arduino</a:t>
            </a:r>
            <a:r>
              <a:rPr lang="en-IN" altLang="en-US" i="1" dirty="0">
                <a:latin typeface="Times New Roman" pitchFamily="18" charset="0"/>
                <a:cs typeface="Times New Roman" pitchFamily="18" charset="0"/>
              </a:rPr>
              <a:t> Uno Rev3</a:t>
            </a:r>
            <a:r>
              <a:rPr lang="en-IN" altLang="en-US" dirty="0">
                <a:latin typeface="Times New Roman" pitchFamily="18" charset="0"/>
                <a:cs typeface="Times New Roman" pitchFamily="18" charset="0"/>
              </a:rPr>
              <a:t>. </a:t>
            </a:r>
            <a:r>
              <a:rPr lang="en-IN" altLang="en-US" dirty="0">
                <a:latin typeface="Times New Roman" pitchFamily="18" charset="0"/>
                <a:cs typeface="Times New Roman" pitchFamily="18" charset="0"/>
                <a:hlinkClick r:id="rId2"/>
              </a:rPr>
              <a:t>https://www.arduino.cc</a:t>
            </a:r>
            <a:endParaRPr lang="en-IN" altLang="en-US" dirty="0">
              <a:latin typeface="Times New Roman" pitchFamily="18" charset="0"/>
              <a:cs typeface="Times New Roman" pitchFamily="18" charset="0"/>
            </a:endParaRPr>
          </a:p>
          <a:p>
            <a:r>
              <a:rPr lang="en-IN" altLang="en-US" dirty="0" err="1">
                <a:latin typeface="Times New Roman" pitchFamily="18" charset="0"/>
                <a:cs typeface="Times New Roman" pitchFamily="18" charset="0"/>
              </a:rPr>
              <a:t>Blynk</a:t>
            </a:r>
            <a:r>
              <a:rPr lang="en-IN" altLang="en-US" dirty="0">
                <a:latin typeface="Times New Roman" pitchFamily="18" charset="0"/>
                <a:cs typeface="Times New Roman" pitchFamily="18" charset="0"/>
              </a:rPr>
              <a:t> Inc. (2023). </a:t>
            </a:r>
            <a:r>
              <a:rPr lang="en-IN" altLang="en-US" i="1" dirty="0" err="1">
                <a:latin typeface="Times New Roman" pitchFamily="18" charset="0"/>
                <a:cs typeface="Times New Roman" pitchFamily="18" charset="0"/>
              </a:rPr>
              <a:t>Blynk</a:t>
            </a:r>
            <a:r>
              <a:rPr lang="en-IN" altLang="en-US" i="1" dirty="0">
                <a:latin typeface="Times New Roman" pitchFamily="18" charset="0"/>
                <a:cs typeface="Times New Roman" pitchFamily="18" charset="0"/>
              </a:rPr>
              <a:t> </a:t>
            </a:r>
            <a:r>
              <a:rPr lang="en-IN" altLang="en-US" i="1" dirty="0" err="1">
                <a:latin typeface="Times New Roman" pitchFamily="18" charset="0"/>
                <a:cs typeface="Times New Roman" pitchFamily="18" charset="0"/>
              </a:rPr>
              <a:t>IoT</a:t>
            </a:r>
            <a:r>
              <a:rPr lang="en-IN" altLang="en-US" i="1" dirty="0">
                <a:latin typeface="Times New Roman" pitchFamily="18" charset="0"/>
                <a:cs typeface="Times New Roman" pitchFamily="18" charset="0"/>
              </a:rPr>
              <a:t> platform</a:t>
            </a:r>
            <a:r>
              <a:rPr lang="en-IN" altLang="en-US" dirty="0">
                <a:latin typeface="Times New Roman" pitchFamily="18" charset="0"/>
                <a:cs typeface="Times New Roman" pitchFamily="18" charset="0"/>
              </a:rPr>
              <a:t>. </a:t>
            </a:r>
            <a:r>
              <a:rPr lang="en-IN" altLang="en-US" dirty="0">
                <a:latin typeface="Times New Roman" pitchFamily="18" charset="0"/>
                <a:cs typeface="Times New Roman" pitchFamily="18" charset="0"/>
                <a:hlinkClick r:id="rId3"/>
              </a:rPr>
              <a:t>https://blynk.io</a:t>
            </a:r>
            <a:endParaRPr lang="en-IN" altLang="en-US" dirty="0">
              <a:latin typeface="Times New Roman" pitchFamily="18" charset="0"/>
              <a:cs typeface="Times New Roman" pitchFamily="18" charset="0"/>
            </a:endParaRPr>
          </a:p>
          <a:p>
            <a:r>
              <a:rPr lang="en-IN" altLang="en-US" dirty="0" err="1">
                <a:latin typeface="Times New Roman" pitchFamily="18" charset="0"/>
                <a:cs typeface="Times New Roman" pitchFamily="18" charset="0"/>
              </a:rPr>
              <a:t>MathWorks</a:t>
            </a:r>
            <a:r>
              <a:rPr lang="en-IN" altLang="en-US" dirty="0">
                <a:latin typeface="Times New Roman" pitchFamily="18" charset="0"/>
                <a:cs typeface="Times New Roman" pitchFamily="18" charset="0"/>
              </a:rPr>
              <a:t>. (2023). </a:t>
            </a:r>
            <a:r>
              <a:rPr lang="en-IN" altLang="en-US" i="1" dirty="0" err="1">
                <a:latin typeface="Times New Roman" pitchFamily="18" charset="0"/>
                <a:cs typeface="Times New Roman" pitchFamily="18" charset="0"/>
              </a:rPr>
              <a:t>ThingSpeak</a:t>
            </a:r>
            <a:r>
              <a:rPr lang="en-IN" altLang="en-US" i="1" dirty="0">
                <a:latin typeface="Times New Roman" pitchFamily="18" charset="0"/>
                <a:cs typeface="Times New Roman" pitchFamily="18" charset="0"/>
              </a:rPr>
              <a:t> </a:t>
            </a:r>
            <a:r>
              <a:rPr lang="en-IN" altLang="en-US" i="1" dirty="0" err="1">
                <a:latin typeface="Times New Roman" pitchFamily="18" charset="0"/>
                <a:cs typeface="Times New Roman" pitchFamily="18" charset="0"/>
              </a:rPr>
              <a:t>IoT</a:t>
            </a:r>
            <a:r>
              <a:rPr lang="en-IN" altLang="en-US" i="1" dirty="0">
                <a:latin typeface="Times New Roman" pitchFamily="18" charset="0"/>
                <a:cs typeface="Times New Roman" pitchFamily="18" charset="0"/>
              </a:rPr>
              <a:t> analytics platform</a:t>
            </a:r>
            <a:r>
              <a:rPr lang="en-IN" altLang="en-US" dirty="0">
                <a:latin typeface="Times New Roman" pitchFamily="18" charset="0"/>
                <a:cs typeface="Times New Roman" pitchFamily="18" charset="0"/>
              </a:rPr>
              <a:t>. </a:t>
            </a:r>
            <a:r>
              <a:rPr lang="en-IN" altLang="en-US" dirty="0">
                <a:latin typeface="Times New Roman" pitchFamily="18" charset="0"/>
                <a:cs typeface="Times New Roman" pitchFamily="18" charset="0"/>
                <a:hlinkClick r:id="rId4"/>
              </a:rPr>
              <a:t>https://thingspeak.com</a:t>
            </a:r>
            <a:endParaRPr lang="en-IN" altLang="en-US" dirty="0">
              <a:latin typeface="Times New Roman" pitchFamily="18" charset="0"/>
              <a:cs typeface="Times New Roman" pitchFamily="18" charset="0"/>
            </a:endParaRPr>
          </a:p>
          <a:p>
            <a:r>
              <a:rPr lang="en-IN" altLang="en-US" dirty="0">
                <a:latin typeface="Times New Roman" pitchFamily="18" charset="0"/>
                <a:cs typeface="Times New Roman" pitchFamily="18" charset="0"/>
              </a:rPr>
              <a:t>Kumar, A., &amp; Singh, R. (2020). Smart waste management system using </a:t>
            </a:r>
            <a:r>
              <a:rPr lang="en-IN" altLang="en-US" dirty="0" err="1">
                <a:latin typeface="Times New Roman" pitchFamily="18" charset="0"/>
                <a:cs typeface="Times New Roman" pitchFamily="18" charset="0"/>
              </a:rPr>
              <a:t>IoT</a:t>
            </a:r>
            <a:r>
              <a:rPr lang="en-IN" altLang="en-US" dirty="0">
                <a:latin typeface="Times New Roman" pitchFamily="18" charset="0"/>
                <a:cs typeface="Times New Roman" pitchFamily="18" charset="0"/>
              </a:rPr>
              <a:t>. </a:t>
            </a:r>
            <a:r>
              <a:rPr lang="en-IN" altLang="en-US" i="1" dirty="0">
                <a:latin typeface="Times New Roman" pitchFamily="18" charset="0"/>
                <a:cs typeface="Times New Roman" pitchFamily="18" charset="0"/>
              </a:rPr>
              <a:t>International Journal of Engineering Research &amp; Technology</a:t>
            </a:r>
            <a:r>
              <a:rPr lang="en-IN" altLang="en-US" dirty="0">
                <a:latin typeface="Times New Roman" pitchFamily="18" charset="0"/>
                <a:cs typeface="Times New Roman" pitchFamily="18" charset="0"/>
              </a:rPr>
              <a:t>, 9(5), 123–126.</a:t>
            </a:r>
          </a:p>
          <a:p>
            <a:r>
              <a:rPr lang="en-IN" altLang="en-US" dirty="0" err="1">
                <a:latin typeface="Times New Roman" pitchFamily="18" charset="0"/>
                <a:cs typeface="Times New Roman" pitchFamily="18" charset="0"/>
              </a:rPr>
              <a:t>Rao</a:t>
            </a:r>
            <a:r>
              <a:rPr lang="en-IN" altLang="en-US" dirty="0">
                <a:latin typeface="Times New Roman" pitchFamily="18" charset="0"/>
                <a:cs typeface="Times New Roman" pitchFamily="18" charset="0"/>
              </a:rPr>
              <a:t>, S., &amp; Mehta, P. (2019). Automatic garbage segregation system. </a:t>
            </a:r>
            <a:r>
              <a:rPr lang="en-IN" altLang="en-US" i="1" dirty="0">
                <a:latin typeface="Times New Roman" pitchFamily="18" charset="0"/>
                <a:cs typeface="Times New Roman" pitchFamily="18" charset="0"/>
              </a:rPr>
              <a:t>International Journal of Scientific Research in Engineering and Management</a:t>
            </a:r>
            <a:r>
              <a:rPr lang="en-IN" altLang="en-US" dirty="0">
                <a:latin typeface="Times New Roman" pitchFamily="18" charset="0"/>
                <a:cs typeface="Times New Roman" pitchFamily="18" charset="0"/>
              </a:rPr>
              <a:t>, 3(4), 45–49.</a:t>
            </a:r>
          </a:p>
          <a:p>
            <a:r>
              <a:rPr lang="en-IN" altLang="en-US" dirty="0">
                <a:latin typeface="Times New Roman" pitchFamily="18" charset="0"/>
                <a:cs typeface="Times New Roman" pitchFamily="18" charset="0"/>
              </a:rPr>
              <a:t>Sharma, M. (2021). </a:t>
            </a:r>
            <a:r>
              <a:rPr lang="en-IN" altLang="en-US" dirty="0" err="1">
                <a:latin typeface="Times New Roman" pitchFamily="18" charset="0"/>
                <a:cs typeface="Times New Roman" pitchFamily="18" charset="0"/>
              </a:rPr>
              <a:t>IoT</a:t>
            </a:r>
            <a:r>
              <a:rPr lang="en-IN" altLang="en-US" dirty="0">
                <a:latin typeface="Times New Roman" pitchFamily="18" charset="0"/>
                <a:cs typeface="Times New Roman" pitchFamily="18" charset="0"/>
              </a:rPr>
              <a:t> based smart dustbin monitoring system. </a:t>
            </a:r>
            <a:r>
              <a:rPr lang="en-IN" altLang="en-US" i="1" dirty="0">
                <a:latin typeface="Times New Roman" pitchFamily="18" charset="0"/>
                <a:cs typeface="Times New Roman" pitchFamily="18" charset="0"/>
              </a:rPr>
              <a:t>International Journal of Innovative Technology and Exploring Engineering</a:t>
            </a:r>
            <a:r>
              <a:rPr lang="en-IN" altLang="en-US" dirty="0">
                <a:latin typeface="Times New Roman" pitchFamily="18" charset="0"/>
                <a:cs typeface="Times New Roman" pitchFamily="18" charset="0"/>
              </a:rPr>
              <a:t>, 10(3), 112–116.</a:t>
            </a:r>
          </a:p>
          <a:p>
            <a:r>
              <a:rPr lang="en-IN" altLang="en-US" dirty="0" err="1">
                <a:latin typeface="Times New Roman" pitchFamily="18" charset="0"/>
                <a:cs typeface="Times New Roman" pitchFamily="18" charset="0"/>
              </a:rPr>
              <a:t>Verma</a:t>
            </a:r>
            <a:r>
              <a:rPr lang="en-IN" altLang="en-US" dirty="0">
                <a:latin typeface="Times New Roman" pitchFamily="18" charset="0"/>
                <a:cs typeface="Times New Roman" pitchFamily="18" charset="0"/>
              </a:rPr>
              <a:t>, K. (2022). Waste segregation using machine learning techniques. </a:t>
            </a:r>
            <a:r>
              <a:rPr lang="en-IN" altLang="en-US" i="1" dirty="0">
                <a:latin typeface="Times New Roman" pitchFamily="18" charset="0"/>
                <a:cs typeface="Times New Roman" pitchFamily="18" charset="0"/>
              </a:rPr>
              <a:t>Journal of </a:t>
            </a:r>
            <a:r>
              <a:rPr lang="en-IN" altLang="en-US" i="1" dirty="0" err="1">
                <a:latin typeface="Times New Roman" pitchFamily="18" charset="0"/>
                <a:cs typeface="Times New Roman" pitchFamily="18" charset="0"/>
              </a:rPr>
              <a:t>Environmen</a:t>
            </a:r>
            <a:endParaRPr lang="en-IN" altLang="en-US" dirty="0">
              <a:latin typeface="Times New Roman" pitchFamily="18" charset="0"/>
              <a:cs typeface="Times New Roman" pitchFamily="18" charset="0"/>
            </a:endParaRPr>
          </a:p>
          <a:p>
            <a:pPr eaLnBrk="1" hangingPunct="1">
              <a:lnSpc>
                <a:spcPct val="150000"/>
              </a:lnSpc>
              <a:buFontTx/>
              <a:buAutoNum type="arabicPeriod"/>
            </a:pPr>
            <a:endParaRPr lang="en-IN" altLang="en-US" sz="2400" dirty="0">
              <a:latin typeface="Times New Roman" pitchFamily="18" charset="0"/>
              <a:cs typeface="Times New Roman" pitchFamily="18" charset="0"/>
            </a:endParaRPr>
          </a:p>
        </p:txBody>
      </p:sp>
      <p:pic>
        <p:nvPicPr>
          <p:cNvPr id="30726" name="Picture 1"/>
          <p:cNvPicPr>
            <a:picLocks noChangeAspect="1" noChangeArrowheads="1"/>
          </p:cNvPicPr>
          <p:nvPr/>
        </p:nvPicPr>
        <p:blipFill>
          <a:blip r:embed="rId5"/>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901FBA0F-4366-4698-A2DA-3F4D924167F2}" type="slidenum">
              <a:rPr lang="en-US" altLang="en-US"/>
              <a:pPr/>
              <a:t>21</a:t>
            </a:fld>
            <a:endParaRPr lang="en-US" altLang="en-US"/>
          </a:p>
        </p:txBody>
      </p:sp>
      <p:sp>
        <p:nvSpPr>
          <p:cNvPr id="2" name="Title 1"/>
          <p:cNvSpPr>
            <a:spLocks noGrp="1"/>
          </p:cNvSpPr>
          <p:nvPr>
            <p:ph type="title"/>
          </p:nvPr>
        </p:nvSpPr>
        <p:spPr>
          <a:xfrm>
            <a:off x="1774825" y="2708275"/>
            <a:ext cx="9144000" cy="10668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THANK YOU</a:t>
            </a:r>
          </a:p>
        </p:txBody>
      </p:sp>
      <p:pic>
        <p:nvPicPr>
          <p:cNvPr id="31748" name="Picture 2"/>
          <p:cNvPicPr>
            <a:picLocks noChangeAspect="1" noChangeArrowheads="1"/>
          </p:cNvPicPr>
          <p:nvPr/>
        </p:nvPicPr>
        <p:blipFill>
          <a:blip r:embed="rId2"/>
          <a:srcRect/>
          <a:stretch>
            <a:fillRect/>
          </a:stretch>
        </p:blipFill>
        <p:spPr bwMode="auto">
          <a:xfrm>
            <a:off x="10920413" y="158750"/>
            <a:ext cx="981075" cy="8382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arterly earnings presentatio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bodyPr rtlCol="0" anchor="ctr"/>
      <a:lstStyle>
        <a:defPPr algn="ctr">
          <a:defRPr dirty="0"/>
        </a:defPPr>
      </a:lstStyle>
      <a:style>
        <a:lnRef idx="3">
          <a:schemeClr val="lt1"/>
        </a:lnRef>
        <a:fillRef idx="1">
          <a:schemeClr val="accent2"/>
        </a:fillRef>
        <a:effectRef idx="1">
          <a:schemeClr val="accent2"/>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bwMode="auto">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a:spPr>
      <a:bodyPr anchor="ctr"/>
      <a:lstStyle>
        <a:defPPr eaLnBrk="1" hangingPunct="1">
          <a:spcBef>
            <a:spcPct val="0"/>
          </a:spcBef>
          <a:buClrTx/>
          <a:buSzTx/>
          <a:buFontTx/>
          <a:buNone/>
          <a:defRPr sz="1400" dirty="0" smtClean="0">
            <a:solidFill>
              <a:schemeClr val="tx2"/>
            </a:solidFill>
          </a:defRPr>
        </a:defPPr>
      </a:lstStyle>
    </a:txDef>
  </a:objectDefaults>
  <a:extraClrSchemeLst/>
  <a:extLst>
    <a:ext uri="{05A4C25C-085E-4340-85A3-A5531E510DB2}">
      <thm15:themeFamily xmlns:thm15="http://schemas.microsoft.com/office/thememl/2012/main" xmlns="" name="Quarterly earnings presentation" id="{0D943C51-2B86-4013-B604-53D1EF40AFB5}" vid="{0D6FE234-CE13-49D3-9FC5-DC9E562B90C3}"/>
    </a:ext>
  </a:extLst>
</a:theme>
</file>

<file path=ppt/theme/theme2.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TotalTime>
  <Words>2421</Words>
  <Application>Microsoft Office PowerPoint</Application>
  <PresentationFormat>Custom</PresentationFormat>
  <Paragraphs>318</Paragraphs>
  <Slides>21</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Palatino Linotype</vt:lpstr>
      <vt:lpstr>Arial</vt:lpstr>
      <vt:lpstr>Century Gothic</vt:lpstr>
      <vt:lpstr>Wingdings 2</vt:lpstr>
      <vt:lpstr>Times New Roman</vt:lpstr>
      <vt:lpstr>Wingdings</vt:lpstr>
      <vt:lpstr>Microsoft Sans Serif</vt:lpstr>
      <vt:lpstr>Quarterly earnings presentation</vt:lpstr>
      <vt:lpstr>Smart dustbin with segregation of wet and dry</vt:lpstr>
      <vt:lpstr>Outline</vt:lpstr>
      <vt:lpstr>Abstract</vt:lpstr>
      <vt:lpstr>Introduction</vt:lpstr>
      <vt:lpstr>Literature Survey</vt:lpstr>
      <vt:lpstr>Slide 6</vt:lpstr>
      <vt:lpstr>Motivation</vt:lpstr>
      <vt:lpstr>Objective</vt:lpstr>
      <vt:lpstr>Existing Method </vt:lpstr>
      <vt:lpstr>Proposed Method</vt:lpstr>
      <vt:lpstr>                                                                                                           Block diagram</vt:lpstr>
      <vt:lpstr>                                                                                                           Explanation of Proposed Work</vt:lpstr>
      <vt:lpstr>                                                                                                           Explanation of Proposed Work</vt:lpstr>
      <vt:lpstr>Explanation of Proposed Work</vt:lpstr>
      <vt:lpstr>                                                                                                           Hardware &amp; Software Involved </vt:lpstr>
      <vt:lpstr>Hardware &amp; Software Involved</vt:lpstr>
      <vt:lpstr>Application &amp; Advantages</vt:lpstr>
      <vt:lpstr>System Architecture/Proposed work Block</vt:lpstr>
      <vt:lpstr>UML Diagrams (CSE &amp; Allied)/DFD CSE &amp; Allied / Prototype (others)</vt:lpstr>
      <vt:lpstr>References (APA Style)</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dustbin with segregation of wet and dry</dc:title>
  <dc:creator>Nandini</dc:creator>
  <cp:lastModifiedBy>HP</cp:lastModifiedBy>
  <cp:revision>14</cp:revision>
  <dcterms:created xsi:type="dcterms:W3CDTF">2017-04-13T11:52:33Z</dcterms:created>
  <dcterms:modified xsi:type="dcterms:W3CDTF">2026-03-05T13:45:57Z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TC034605459991</vt:lpwstr>
  </property>
</Properties>
</file>